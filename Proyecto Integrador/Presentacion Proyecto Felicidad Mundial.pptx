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57" r:id="rId4"/>
    <p:sldId id="258" r:id="rId5"/>
    <p:sldId id="264" r:id="rId6"/>
    <p:sldId id="261" r:id="rId7"/>
    <p:sldId id="262" r:id="rId8"/>
    <p:sldId id="265" r:id="rId9"/>
    <p:sldId id="275" r:id="rId10"/>
    <p:sldId id="266" r:id="rId11"/>
    <p:sldId id="267" r:id="rId12"/>
    <p:sldId id="268" r:id="rId13"/>
    <p:sldId id="269" r:id="rId14"/>
    <p:sldId id="270" r:id="rId15"/>
    <p:sldId id="271" r:id="rId16"/>
    <p:sldId id="272" r:id="rId17"/>
    <p:sldId id="273" r:id="rId18"/>
    <p:sldId id="274" r:id="rId19"/>
    <p:sldId id="276" r:id="rId20"/>
    <p:sldId id="277"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9" d="100"/>
          <a:sy n="109"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2181-E57F-2B14-5F21-B18DF86578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CO"/>
          </a:p>
        </p:txBody>
      </p:sp>
      <p:sp>
        <p:nvSpPr>
          <p:cNvPr id="3" name="Subtitle 2">
            <a:extLst>
              <a:ext uri="{FF2B5EF4-FFF2-40B4-BE49-F238E27FC236}">
                <a16:creationId xmlns:a16="http://schemas.microsoft.com/office/drawing/2014/main" id="{4287D2BD-14AD-C6EE-E431-EBC2EE874D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O"/>
          </a:p>
        </p:txBody>
      </p:sp>
      <p:sp>
        <p:nvSpPr>
          <p:cNvPr id="4" name="Date Placeholder 3">
            <a:extLst>
              <a:ext uri="{FF2B5EF4-FFF2-40B4-BE49-F238E27FC236}">
                <a16:creationId xmlns:a16="http://schemas.microsoft.com/office/drawing/2014/main" id="{DB2D87EC-182C-A5E0-48FE-016FA64A8E22}"/>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5D1B219C-3FE8-FFE6-6DA0-DA8708D9C625}"/>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1436F172-2C88-16F0-7FEA-F23A3BE60E52}"/>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2303910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4D11-4876-00F0-6E06-FFA0202CCB15}"/>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09A13388-DEE1-596F-B2AC-026611747E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C79C6F67-9403-3EA5-8B85-B5D4ED3C6A32}"/>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C64CCFA7-2057-70CD-32DB-68860F0105EA}"/>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1E5DD5C9-FDD5-16CE-6FDD-A387F08A5637}"/>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128396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49F6D-7B4D-C739-1D69-B4802B5DCC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CO"/>
          </a:p>
        </p:txBody>
      </p:sp>
      <p:sp>
        <p:nvSpPr>
          <p:cNvPr id="3" name="Text Placeholder 2">
            <a:extLst>
              <a:ext uri="{FF2B5EF4-FFF2-40B4-BE49-F238E27FC236}">
                <a16:creationId xmlns:a16="http://schemas.microsoft.com/office/drawing/2014/main" id="{69280992-FDD8-8D83-B4C2-5C68A6CFC2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410CA4-D15F-CB83-C5E4-CCDE57979D29}"/>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83A31580-2D31-92AD-87E7-B576B00BAD9E}"/>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BCADC7D2-2B05-96E3-CA23-7D1BFCC93F8E}"/>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1209347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B60-214B-B2EE-58FE-A331D914E506}"/>
              </a:ext>
            </a:extLst>
          </p:cNvPr>
          <p:cNvSpPr>
            <a:spLocks noGrp="1"/>
          </p:cNvSpPr>
          <p:nvPr>
            <p:ph type="title"/>
          </p:nvPr>
        </p:nvSpPr>
        <p:spPr/>
        <p:txBody>
          <a:bodyPr/>
          <a:lstStyle/>
          <a:p>
            <a:r>
              <a:rPr lang="en-US"/>
              <a:t>Click to edit Master title style</a:t>
            </a:r>
            <a:endParaRPr lang="es-CO"/>
          </a:p>
        </p:txBody>
      </p:sp>
      <p:sp>
        <p:nvSpPr>
          <p:cNvPr id="3" name="Content Placeholder 2">
            <a:extLst>
              <a:ext uri="{FF2B5EF4-FFF2-40B4-BE49-F238E27FC236}">
                <a16:creationId xmlns:a16="http://schemas.microsoft.com/office/drawing/2014/main" id="{9DA2D095-6A15-91B5-7FDF-171FD737F4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Content Placeholder 3">
            <a:extLst>
              <a:ext uri="{FF2B5EF4-FFF2-40B4-BE49-F238E27FC236}">
                <a16:creationId xmlns:a16="http://schemas.microsoft.com/office/drawing/2014/main" id="{0744E795-14C2-2A4A-95CE-595E45ADDF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Date Placeholder 4">
            <a:extLst>
              <a:ext uri="{FF2B5EF4-FFF2-40B4-BE49-F238E27FC236}">
                <a16:creationId xmlns:a16="http://schemas.microsoft.com/office/drawing/2014/main" id="{CDD5AE6B-CB36-DC95-2285-393BB229A7A9}"/>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6" name="Footer Placeholder 5">
            <a:extLst>
              <a:ext uri="{FF2B5EF4-FFF2-40B4-BE49-F238E27FC236}">
                <a16:creationId xmlns:a16="http://schemas.microsoft.com/office/drawing/2014/main" id="{6D3690EC-97BC-6FA9-93E0-0FB0A14E9A6C}"/>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71663B37-743D-6757-DEF0-2E6FB78097BD}"/>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3437002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62AEE-0A02-18BE-4BD9-D04121DA32F7}"/>
              </a:ext>
            </a:extLst>
          </p:cNvPr>
          <p:cNvSpPr>
            <a:spLocks noGrp="1"/>
          </p:cNvSpPr>
          <p:nvPr>
            <p:ph type="title"/>
          </p:nvPr>
        </p:nvSpPr>
        <p:spPr>
          <a:xfrm>
            <a:off x="839788" y="365125"/>
            <a:ext cx="10515600" cy="1325563"/>
          </a:xfrm>
        </p:spPr>
        <p:txBody>
          <a:bodyPr/>
          <a:lstStyle/>
          <a:p>
            <a:r>
              <a:rPr lang="en-US"/>
              <a:t>Click to edit Master title style</a:t>
            </a:r>
            <a:endParaRPr lang="es-CO"/>
          </a:p>
        </p:txBody>
      </p:sp>
      <p:sp>
        <p:nvSpPr>
          <p:cNvPr id="3" name="Text Placeholder 2">
            <a:extLst>
              <a:ext uri="{FF2B5EF4-FFF2-40B4-BE49-F238E27FC236}">
                <a16:creationId xmlns:a16="http://schemas.microsoft.com/office/drawing/2014/main" id="{5F562470-555B-5BC7-701B-89667CD9D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9DC24A-C65E-C120-C2F4-612A34D9B9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5" name="Text Placeholder 4">
            <a:extLst>
              <a:ext uri="{FF2B5EF4-FFF2-40B4-BE49-F238E27FC236}">
                <a16:creationId xmlns:a16="http://schemas.microsoft.com/office/drawing/2014/main" id="{A4600D97-60B3-C885-F978-385D153377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0D7BC3-717E-FEE0-C33C-48400802CC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7" name="Date Placeholder 6">
            <a:extLst>
              <a:ext uri="{FF2B5EF4-FFF2-40B4-BE49-F238E27FC236}">
                <a16:creationId xmlns:a16="http://schemas.microsoft.com/office/drawing/2014/main" id="{AE294567-3AF1-AEEF-98A4-FE1C3C17801D}"/>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8" name="Footer Placeholder 7">
            <a:extLst>
              <a:ext uri="{FF2B5EF4-FFF2-40B4-BE49-F238E27FC236}">
                <a16:creationId xmlns:a16="http://schemas.microsoft.com/office/drawing/2014/main" id="{87A22A12-8C2B-1CCE-19C4-6192C4CF1A30}"/>
              </a:ext>
            </a:extLst>
          </p:cNvPr>
          <p:cNvSpPr>
            <a:spLocks noGrp="1"/>
          </p:cNvSpPr>
          <p:nvPr>
            <p:ph type="ftr" sz="quarter" idx="11"/>
          </p:nvPr>
        </p:nvSpPr>
        <p:spPr/>
        <p:txBody>
          <a:bodyPr/>
          <a:lstStyle/>
          <a:p>
            <a:endParaRPr lang="es-CO"/>
          </a:p>
        </p:txBody>
      </p:sp>
      <p:sp>
        <p:nvSpPr>
          <p:cNvPr id="9" name="Slide Number Placeholder 8">
            <a:extLst>
              <a:ext uri="{FF2B5EF4-FFF2-40B4-BE49-F238E27FC236}">
                <a16:creationId xmlns:a16="http://schemas.microsoft.com/office/drawing/2014/main" id="{F3380D3E-766C-2F4C-C5A1-6AEC8C92FF71}"/>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2426716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D816-D124-2AEA-3953-2C6626E4B0CA}"/>
              </a:ext>
            </a:extLst>
          </p:cNvPr>
          <p:cNvSpPr>
            <a:spLocks noGrp="1"/>
          </p:cNvSpPr>
          <p:nvPr>
            <p:ph type="title"/>
          </p:nvPr>
        </p:nvSpPr>
        <p:spPr/>
        <p:txBody>
          <a:bodyPr/>
          <a:lstStyle/>
          <a:p>
            <a:r>
              <a:rPr lang="en-US"/>
              <a:t>Click to edit Master title style</a:t>
            </a:r>
            <a:endParaRPr lang="es-CO"/>
          </a:p>
        </p:txBody>
      </p:sp>
      <p:sp>
        <p:nvSpPr>
          <p:cNvPr id="3" name="Date Placeholder 2">
            <a:extLst>
              <a:ext uri="{FF2B5EF4-FFF2-40B4-BE49-F238E27FC236}">
                <a16:creationId xmlns:a16="http://schemas.microsoft.com/office/drawing/2014/main" id="{E80809F4-EEC4-6DC3-6E41-7EC6B74BC95F}"/>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4" name="Footer Placeholder 3">
            <a:extLst>
              <a:ext uri="{FF2B5EF4-FFF2-40B4-BE49-F238E27FC236}">
                <a16:creationId xmlns:a16="http://schemas.microsoft.com/office/drawing/2014/main" id="{ADED3E2A-6394-69EE-859D-99B0F4B649C9}"/>
              </a:ext>
            </a:extLst>
          </p:cNvPr>
          <p:cNvSpPr>
            <a:spLocks noGrp="1"/>
          </p:cNvSpPr>
          <p:nvPr>
            <p:ph type="ftr" sz="quarter" idx="11"/>
          </p:nvPr>
        </p:nvSpPr>
        <p:spPr/>
        <p:txBody>
          <a:bodyPr/>
          <a:lstStyle/>
          <a:p>
            <a:endParaRPr lang="es-CO"/>
          </a:p>
        </p:txBody>
      </p:sp>
      <p:sp>
        <p:nvSpPr>
          <p:cNvPr id="5" name="Slide Number Placeholder 4">
            <a:extLst>
              <a:ext uri="{FF2B5EF4-FFF2-40B4-BE49-F238E27FC236}">
                <a16:creationId xmlns:a16="http://schemas.microsoft.com/office/drawing/2014/main" id="{89705EEB-BAD6-3B4C-2045-1C2AEA2E679A}"/>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2973901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3AD175-F441-3B05-D74A-140FF77421EB}"/>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3" name="Footer Placeholder 2">
            <a:extLst>
              <a:ext uri="{FF2B5EF4-FFF2-40B4-BE49-F238E27FC236}">
                <a16:creationId xmlns:a16="http://schemas.microsoft.com/office/drawing/2014/main" id="{13D323B0-207C-DB68-3D1D-461A6BF7EA1B}"/>
              </a:ext>
            </a:extLst>
          </p:cNvPr>
          <p:cNvSpPr>
            <a:spLocks noGrp="1"/>
          </p:cNvSpPr>
          <p:nvPr>
            <p:ph type="ftr" sz="quarter" idx="11"/>
          </p:nvPr>
        </p:nvSpPr>
        <p:spPr/>
        <p:txBody>
          <a:bodyPr/>
          <a:lstStyle/>
          <a:p>
            <a:endParaRPr lang="es-CO"/>
          </a:p>
        </p:txBody>
      </p:sp>
      <p:sp>
        <p:nvSpPr>
          <p:cNvPr id="4" name="Slide Number Placeholder 3">
            <a:extLst>
              <a:ext uri="{FF2B5EF4-FFF2-40B4-BE49-F238E27FC236}">
                <a16:creationId xmlns:a16="http://schemas.microsoft.com/office/drawing/2014/main" id="{AEC8F276-0015-B25D-9C7D-54194F917543}"/>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1230359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69C5-CE7C-CD9E-5BFF-F41B5EA3A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Content Placeholder 2">
            <a:extLst>
              <a:ext uri="{FF2B5EF4-FFF2-40B4-BE49-F238E27FC236}">
                <a16:creationId xmlns:a16="http://schemas.microsoft.com/office/drawing/2014/main" id="{800DE40D-3C78-2FC3-1F0D-136B246C7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Text Placeholder 3">
            <a:extLst>
              <a:ext uri="{FF2B5EF4-FFF2-40B4-BE49-F238E27FC236}">
                <a16:creationId xmlns:a16="http://schemas.microsoft.com/office/drawing/2014/main" id="{06577837-1C95-63D6-DA10-BD1D7F7F41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4F0800-F8AB-0E18-B80A-666DCACAAA58}"/>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6" name="Footer Placeholder 5">
            <a:extLst>
              <a:ext uri="{FF2B5EF4-FFF2-40B4-BE49-F238E27FC236}">
                <a16:creationId xmlns:a16="http://schemas.microsoft.com/office/drawing/2014/main" id="{69E4058A-4B99-A99D-75E9-A2B45A594C78}"/>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10D89B2B-86B1-FCD5-D988-D872D20854A5}"/>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2037248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AFEFA-DCD3-3E71-F14E-A44EED131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O"/>
          </a:p>
        </p:txBody>
      </p:sp>
      <p:sp>
        <p:nvSpPr>
          <p:cNvPr id="3" name="Picture Placeholder 2">
            <a:extLst>
              <a:ext uri="{FF2B5EF4-FFF2-40B4-BE49-F238E27FC236}">
                <a16:creationId xmlns:a16="http://schemas.microsoft.com/office/drawing/2014/main" id="{45F2A469-7E67-6DFC-0089-8B1613E13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Text Placeholder 3">
            <a:extLst>
              <a:ext uri="{FF2B5EF4-FFF2-40B4-BE49-F238E27FC236}">
                <a16:creationId xmlns:a16="http://schemas.microsoft.com/office/drawing/2014/main" id="{49F3DB4C-F7E2-A523-9CF7-77D9E3A43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03D14F-DF6B-99B3-D78E-985118EA3903}"/>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6" name="Footer Placeholder 5">
            <a:extLst>
              <a:ext uri="{FF2B5EF4-FFF2-40B4-BE49-F238E27FC236}">
                <a16:creationId xmlns:a16="http://schemas.microsoft.com/office/drawing/2014/main" id="{8E9BC572-CD69-BEBB-B13F-F92F6E673F2D}"/>
              </a:ext>
            </a:extLst>
          </p:cNvPr>
          <p:cNvSpPr>
            <a:spLocks noGrp="1"/>
          </p:cNvSpPr>
          <p:nvPr>
            <p:ph type="ftr" sz="quarter" idx="11"/>
          </p:nvPr>
        </p:nvSpPr>
        <p:spPr/>
        <p:txBody>
          <a:bodyPr/>
          <a:lstStyle/>
          <a:p>
            <a:endParaRPr lang="es-CO"/>
          </a:p>
        </p:txBody>
      </p:sp>
      <p:sp>
        <p:nvSpPr>
          <p:cNvPr id="7" name="Slide Number Placeholder 6">
            <a:extLst>
              <a:ext uri="{FF2B5EF4-FFF2-40B4-BE49-F238E27FC236}">
                <a16:creationId xmlns:a16="http://schemas.microsoft.com/office/drawing/2014/main" id="{3912899D-D290-FFF1-8FBD-90B6152160C2}"/>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1133096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B04A-92D4-363A-F86C-3099FE92FBF0}"/>
              </a:ext>
            </a:extLst>
          </p:cNvPr>
          <p:cNvSpPr>
            <a:spLocks noGrp="1"/>
          </p:cNvSpPr>
          <p:nvPr>
            <p:ph type="title"/>
          </p:nvPr>
        </p:nvSpPr>
        <p:spPr/>
        <p:txBody>
          <a:bodyPr/>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84FE0F99-6349-6E68-B2A5-37A7EBA215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23F976AA-E5B0-654A-0989-75F15435A55F}"/>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395791C9-635F-12A5-CC13-51AB53A7053B}"/>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447C2A1E-1D90-1493-98D6-A9C8121384F5}"/>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2799126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9D54BC-6356-663C-136E-59F3F382E7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CO"/>
          </a:p>
        </p:txBody>
      </p:sp>
      <p:sp>
        <p:nvSpPr>
          <p:cNvPr id="3" name="Vertical Text Placeholder 2">
            <a:extLst>
              <a:ext uri="{FF2B5EF4-FFF2-40B4-BE49-F238E27FC236}">
                <a16:creationId xmlns:a16="http://schemas.microsoft.com/office/drawing/2014/main" id="{D40AFE40-847C-AE6C-77BE-593E85749F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6124D508-9687-EC9F-56A1-F1BFD4D2CFEE}"/>
              </a:ext>
            </a:extLst>
          </p:cNvPr>
          <p:cNvSpPr>
            <a:spLocks noGrp="1"/>
          </p:cNvSpPr>
          <p:nvPr>
            <p:ph type="dt" sz="half" idx="10"/>
          </p:nvPr>
        </p:nvSpPr>
        <p:spPr/>
        <p:txBody>
          <a:body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7BA69EAC-B87B-1C8E-88E8-E3402B67310B}"/>
              </a:ext>
            </a:extLst>
          </p:cNvPr>
          <p:cNvSpPr>
            <a:spLocks noGrp="1"/>
          </p:cNvSpPr>
          <p:nvPr>
            <p:ph type="ftr" sz="quarter" idx="11"/>
          </p:nvPr>
        </p:nvSpPr>
        <p:spPr/>
        <p:txBody>
          <a:bodyPr/>
          <a:lstStyle/>
          <a:p>
            <a:endParaRPr lang="es-CO"/>
          </a:p>
        </p:txBody>
      </p:sp>
      <p:sp>
        <p:nvSpPr>
          <p:cNvPr id="6" name="Slide Number Placeholder 5">
            <a:extLst>
              <a:ext uri="{FF2B5EF4-FFF2-40B4-BE49-F238E27FC236}">
                <a16:creationId xmlns:a16="http://schemas.microsoft.com/office/drawing/2014/main" id="{3F77882A-BD38-F4E4-8635-AD891DE6A89F}"/>
              </a:ext>
            </a:extLst>
          </p:cNvPr>
          <p:cNvSpPr>
            <a:spLocks noGrp="1"/>
          </p:cNvSpPr>
          <p:nvPr>
            <p:ph type="sldNum" sz="quarter" idx="12"/>
          </p:nvPr>
        </p:nvSpPr>
        <p:spPr/>
        <p:txBody>
          <a:bodyPr/>
          <a:lstStyle/>
          <a:p>
            <a:fld id="{1A49E186-C8FB-4729-9299-F2F5B433F0E8}" type="slidenum">
              <a:rPr lang="es-CO" smtClean="0"/>
              <a:t>‹#›</a:t>
            </a:fld>
            <a:endParaRPr lang="es-CO"/>
          </a:p>
        </p:txBody>
      </p:sp>
    </p:spTree>
    <p:extLst>
      <p:ext uri="{BB962C8B-B14F-4D97-AF65-F5344CB8AC3E}">
        <p14:creationId xmlns:p14="http://schemas.microsoft.com/office/powerpoint/2010/main" val="1061519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68C943-772D-CBFB-5685-20A34B64B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CO"/>
          </a:p>
        </p:txBody>
      </p:sp>
      <p:sp>
        <p:nvSpPr>
          <p:cNvPr id="3" name="Text Placeholder 2">
            <a:extLst>
              <a:ext uri="{FF2B5EF4-FFF2-40B4-BE49-F238E27FC236}">
                <a16:creationId xmlns:a16="http://schemas.microsoft.com/office/drawing/2014/main" id="{A531877F-7090-BC18-64E8-469F456DEC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4" name="Date Placeholder 3">
            <a:extLst>
              <a:ext uri="{FF2B5EF4-FFF2-40B4-BE49-F238E27FC236}">
                <a16:creationId xmlns:a16="http://schemas.microsoft.com/office/drawing/2014/main" id="{14A3B5EB-F376-BDB3-C039-01A8F523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9836A2-E332-4DE0-A516-17B3F704B8E1}" type="datetimeFigureOut">
              <a:rPr lang="es-CO" smtClean="0"/>
              <a:t>14/06/2025</a:t>
            </a:fld>
            <a:endParaRPr lang="es-CO"/>
          </a:p>
        </p:txBody>
      </p:sp>
      <p:sp>
        <p:nvSpPr>
          <p:cNvPr id="5" name="Footer Placeholder 4">
            <a:extLst>
              <a:ext uri="{FF2B5EF4-FFF2-40B4-BE49-F238E27FC236}">
                <a16:creationId xmlns:a16="http://schemas.microsoft.com/office/drawing/2014/main" id="{EF2B8087-3A9D-E2FA-8151-801D290229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a:extLst>
              <a:ext uri="{FF2B5EF4-FFF2-40B4-BE49-F238E27FC236}">
                <a16:creationId xmlns:a16="http://schemas.microsoft.com/office/drawing/2014/main" id="{DC64840C-B023-C86B-A99D-9799AF8E8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49E186-C8FB-4729-9299-F2F5B433F0E8}" type="slidenum">
              <a:rPr lang="es-CO" smtClean="0"/>
              <a:t>‹#›</a:t>
            </a:fld>
            <a:endParaRPr lang="es-CO"/>
          </a:p>
        </p:txBody>
      </p:sp>
    </p:spTree>
    <p:extLst>
      <p:ext uri="{BB962C8B-B14F-4D97-AF65-F5344CB8AC3E}">
        <p14:creationId xmlns:p14="http://schemas.microsoft.com/office/powerpoint/2010/main" val="285482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550517" cy="830997"/>
            </a:xfrm>
            <a:prstGeom prst="rect">
              <a:avLst/>
            </a:prstGeom>
            <a:noFill/>
          </p:spPr>
          <p:txBody>
            <a:bodyPr wrap="square" rtlCol="0">
              <a:spAutoFit/>
            </a:bodyPr>
            <a:lstStyle/>
            <a:p>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294598" y="1664412"/>
            <a:ext cx="7897402" cy="3046988"/>
          </a:xfrm>
          <a:prstGeom prst="rect">
            <a:avLst/>
          </a:prstGeom>
          <a:noFill/>
        </p:spPr>
        <p:txBody>
          <a:bodyPr wrap="square" rtlCol="0">
            <a:spAutoFit/>
          </a:bodyPr>
          <a:lstStyle/>
          <a:p>
            <a:pPr algn="ctr"/>
            <a:r>
              <a:rPr lang="es-CO" sz="2400" b="1" dirty="0">
                <a:solidFill>
                  <a:schemeClr val="bg1"/>
                </a:solidFill>
                <a:latin typeface="Bahnschrift SemiBold" panose="020B0502040204020203" pitchFamily="34" charset="0"/>
              </a:rPr>
              <a:t>Proyecto Felicidad Mundial</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 </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 </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María José Hernández Rosales</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Juan Guillermo González Gutiérrez</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Universidad Digital de Antioquia</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Proyecto Integrado III</a:t>
            </a:r>
            <a:br>
              <a:rPr lang="es-CO" sz="2400" dirty="0">
                <a:solidFill>
                  <a:schemeClr val="bg1"/>
                </a:solidFill>
                <a:latin typeface="Bahnschrift SemiBold" panose="020B0502040204020203" pitchFamily="34" charset="0"/>
              </a:rPr>
            </a:br>
            <a:r>
              <a:rPr lang="es-CO" sz="2400" dirty="0">
                <a:solidFill>
                  <a:schemeClr val="bg1"/>
                </a:solidFill>
                <a:latin typeface="Bahnschrift SemiBold" panose="020B0502040204020203" pitchFamily="34" charset="0"/>
              </a:rPr>
              <a:t>Sharon Karin Camacho</a:t>
            </a:r>
          </a:p>
        </p:txBody>
      </p:sp>
    </p:spTree>
    <p:extLst>
      <p:ext uri="{BB962C8B-B14F-4D97-AF65-F5344CB8AC3E}">
        <p14:creationId xmlns:p14="http://schemas.microsoft.com/office/powerpoint/2010/main" val="34098752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7006356" y="1016683"/>
            <a:ext cx="4308750" cy="679936"/>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1</a:t>
              </a:r>
              <a:endParaRPr lang="es-CO" sz="32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Introducción</a:t>
              </a:r>
              <a:endParaRPr lang="en-US" sz="2000" dirty="0">
                <a:latin typeface="Bahnschrift SemiBold" panose="020B0502040204020203" pitchFamily="34" charset="0"/>
              </a:endParaRPr>
            </a:p>
          </p:txBody>
        </p:sp>
      </p:grpSp>
      <p:sp>
        <p:nvSpPr>
          <p:cNvPr id="20" name="TextBox 19">
            <a:extLst>
              <a:ext uri="{FF2B5EF4-FFF2-40B4-BE49-F238E27FC236}">
                <a16:creationId xmlns:a16="http://schemas.microsoft.com/office/drawing/2014/main" id="{1607F49A-B5CA-5034-9C5B-BFA8BD9A9933}"/>
              </a:ext>
            </a:extLst>
          </p:cNvPr>
          <p:cNvSpPr txBox="1"/>
          <p:nvPr/>
        </p:nvSpPr>
        <p:spPr>
          <a:xfrm>
            <a:off x="6236413" y="359596"/>
            <a:ext cx="4657942" cy="523220"/>
          </a:xfrm>
          <a:prstGeom prst="rect">
            <a:avLst/>
          </a:prstGeom>
          <a:noFill/>
        </p:spPr>
        <p:txBody>
          <a:bodyPr wrap="square" rtlCol="0">
            <a:spAutoFit/>
          </a:bodyPr>
          <a:lstStyle/>
          <a:p>
            <a:r>
              <a:rPr lang="en-US" sz="2800" dirty="0">
                <a:solidFill>
                  <a:schemeClr val="bg1"/>
                </a:solidFill>
                <a:latin typeface="Bahnschrift SemiBold" panose="020B0502040204020203" pitchFamily="34" charset="0"/>
              </a:rPr>
              <a:t>Felicidad Mundial</a:t>
            </a:r>
            <a:endParaRPr lang="es-CO" sz="2800" dirty="0">
              <a:solidFill>
                <a:schemeClr val="bg1"/>
              </a:solidFill>
              <a:latin typeface="Bahnschrift SemiBold" panose="020B0502040204020203" pitchFamily="34" charset="0"/>
            </a:endParaRPr>
          </a:p>
        </p:txBody>
      </p:sp>
      <p:grpSp>
        <p:nvGrpSpPr>
          <p:cNvPr id="28" name="Group 27">
            <a:extLst>
              <a:ext uri="{FF2B5EF4-FFF2-40B4-BE49-F238E27FC236}">
                <a16:creationId xmlns:a16="http://schemas.microsoft.com/office/drawing/2014/main" id="{2CA7DD41-C4AE-D0D2-55C7-5AC5DA5F6643}"/>
              </a:ext>
            </a:extLst>
          </p:cNvPr>
          <p:cNvGrpSpPr/>
          <p:nvPr/>
        </p:nvGrpSpPr>
        <p:grpSpPr>
          <a:xfrm>
            <a:off x="6708280" y="1860753"/>
            <a:ext cx="4308750" cy="679936"/>
            <a:chOff x="6345060" y="1971736"/>
            <a:chExt cx="4680000" cy="1223484"/>
          </a:xfrm>
        </p:grpSpPr>
        <p:sp>
          <p:nvSpPr>
            <p:cNvPr id="29" name="Parallelogram 28">
              <a:extLst>
                <a:ext uri="{FF2B5EF4-FFF2-40B4-BE49-F238E27FC236}">
                  <a16:creationId xmlns:a16="http://schemas.microsoft.com/office/drawing/2014/main" id="{E7A8BA64-028C-6314-9AFD-F13F9090987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0" name="Parallelogram 29">
              <a:extLst>
                <a:ext uri="{FF2B5EF4-FFF2-40B4-BE49-F238E27FC236}">
                  <a16:creationId xmlns:a16="http://schemas.microsoft.com/office/drawing/2014/main" id="{542B87EE-1428-549F-125B-05E3A55C077D}"/>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1" name="TextBox 30">
              <a:extLst>
                <a:ext uri="{FF2B5EF4-FFF2-40B4-BE49-F238E27FC236}">
                  <a16:creationId xmlns:a16="http://schemas.microsoft.com/office/drawing/2014/main" id="{8F54DCD7-2828-AC07-07BF-15E9105CA199}"/>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2</a:t>
              </a:r>
              <a:endParaRPr lang="es-CO" sz="3200" dirty="0">
                <a:solidFill>
                  <a:schemeClr val="bg1"/>
                </a:solidFill>
                <a:latin typeface="Bahnschrift SemiBold" panose="020B0502040204020203" pitchFamily="34" charset="0"/>
              </a:endParaRPr>
            </a:p>
          </p:txBody>
        </p:sp>
        <p:sp>
          <p:nvSpPr>
            <p:cNvPr id="32" name="TextBox 31">
              <a:extLst>
                <a:ext uri="{FF2B5EF4-FFF2-40B4-BE49-F238E27FC236}">
                  <a16:creationId xmlns:a16="http://schemas.microsoft.com/office/drawing/2014/main" id="{80CEF0BB-8832-F099-2406-DB9A84847C3A}"/>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Objetivo</a:t>
              </a:r>
              <a:endParaRPr lang="en-US" sz="2000" dirty="0">
                <a:latin typeface="Bahnschrift SemiBold" panose="020B0502040204020203" pitchFamily="34" charset="0"/>
              </a:endParaRPr>
            </a:p>
          </p:txBody>
        </p:sp>
      </p:grpSp>
      <p:grpSp>
        <p:nvGrpSpPr>
          <p:cNvPr id="33" name="Group 32">
            <a:extLst>
              <a:ext uri="{FF2B5EF4-FFF2-40B4-BE49-F238E27FC236}">
                <a16:creationId xmlns:a16="http://schemas.microsoft.com/office/drawing/2014/main" id="{A2A01A63-CD5D-DD8A-644B-4DA3269D879B}"/>
              </a:ext>
            </a:extLst>
          </p:cNvPr>
          <p:cNvGrpSpPr/>
          <p:nvPr/>
        </p:nvGrpSpPr>
        <p:grpSpPr>
          <a:xfrm>
            <a:off x="6433044" y="2708278"/>
            <a:ext cx="4308750" cy="679936"/>
            <a:chOff x="6345060" y="1971736"/>
            <a:chExt cx="4680000" cy="1223484"/>
          </a:xfrm>
        </p:grpSpPr>
        <p:sp>
          <p:nvSpPr>
            <p:cNvPr id="34" name="Parallelogram 33">
              <a:extLst>
                <a:ext uri="{FF2B5EF4-FFF2-40B4-BE49-F238E27FC236}">
                  <a16:creationId xmlns:a16="http://schemas.microsoft.com/office/drawing/2014/main" id="{FEB22B77-9C66-2C03-EEC3-A307C45FB71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5" name="Parallelogram 34">
              <a:extLst>
                <a:ext uri="{FF2B5EF4-FFF2-40B4-BE49-F238E27FC236}">
                  <a16:creationId xmlns:a16="http://schemas.microsoft.com/office/drawing/2014/main" id="{0B3EA0C4-BAB4-D77C-D290-D88D048777C9}"/>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6" name="TextBox 35">
              <a:extLst>
                <a:ext uri="{FF2B5EF4-FFF2-40B4-BE49-F238E27FC236}">
                  <a16:creationId xmlns:a16="http://schemas.microsoft.com/office/drawing/2014/main" id="{8CB126D1-1145-1A9C-982C-334D715714F5}"/>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3</a:t>
              </a:r>
              <a:endParaRPr lang="es-CO" sz="3200" dirty="0">
                <a:solidFill>
                  <a:schemeClr val="bg1"/>
                </a:solidFill>
                <a:latin typeface="Bahnschrift SemiBold" panose="020B0502040204020203" pitchFamily="34" charset="0"/>
              </a:endParaRPr>
            </a:p>
          </p:txBody>
        </p:sp>
        <p:sp>
          <p:nvSpPr>
            <p:cNvPr id="37" name="TextBox 36">
              <a:extLst>
                <a:ext uri="{FF2B5EF4-FFF2-40B4-BE49-F238E27FC236}">
                  <a16:creationId xmlns:a16="http://schemas.microsoft.com/office/drawing/2014/main" id="{9C48907B-8CD7-E8D2-880A-3ABD186C17C2}"/>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Fuente</a:t>
              </a:r>
              <a:endParaRPr lang="en-US" sz="2000" dirty="0">
                <a:latin typeface="Bahnschrift SemiBold" panose="020B0502040204020203" pitchFamily="34" charset="0"/>
              </a:endParaRPr>
            </a:p>
          </p:txBody>
        </p:sp>
      </p:grpSp>
      <p:grpSp>
        <p:nvGrpSpPr>
          <p:cNvPr id="38" name="Group 37">
            <a:extLst>
              <a:ext uri="{FF2B5EF4-FFF2-40B4-BE49-F238E27FC236}">
                <a16:creationId xmlns:a16="http://schemas.microsoft.com/office/drawing/2014/main" id="{2B9EAC3C-B25A-1C89-FAD9-0BFD34214C84}"/>
              </a:ext>
            </a:extLst>
          </p:cNvPr>
          <p:cNvGrpSpPr/>
          <p:nvPr/>
        </p:nvGrpSpPr>
        <p:grpSpPr>
          <a:xfrm>
            <a:off x="6131696" y="3569912"/>
            <a:ext cx="4308750" cy="679936"/>
            <a:chOff x="6345060" y="1971736"/>
            <a:chExt cx="4680000" cy="1223484"/>
          </a:xfrm>
        </p:grpSpPr>
        <p:sp>
          <p:nvSpPr>
            <p:cNvPr id="39" name="Parallelogram 38">
              <a:extLst>
                <a:ext uri="{FF2B5EF4-FFF2-40B4-BE49-F238E27FC236}">
                  <a16:creationId xmlns:a16="http://schemas.microsoft.com/office/drawing/2014/main" id="{D409ED1E-938B-9F01-153E-DAFE93D4E8D1}"/>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0" name="Parallelogram 39">
              <a:extLst>
                <a:ext uri="{FF2B5EF4-FFF2-40B4-BE49-F238E27FC236}">
                  <a16:creationId xmlns:a16="http://schemas.microsoft.com/office/drawing/2014/main" id="{94B08C8A-3139-3D94-7EDE-568F78BD0819}"/>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1" name="TextBox 40">
              <a:extLst>
                <a:ext uri="{FF2B5EF4-FFF2-40B4-BE49-F238E27FC236}">
                  <a16:creationId xmlns:a16="http://schemas.microsoft.com/office/drawing/2014/main" id="{81AD6747-ED75-E30F-B15E-BBB8BDEE8BE3}"/>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4</a:t>
              </a:r>
              <a:endParaRPr lang="es-CO" sz="3200" dirty="0">
                <a:solidFill>
                  <a:schemeClr val="bg1"/>
                </a:solidFill>
                <a:latin typeface="Bahnschrift SemiBold" panose="020B0502040204020203" pitchFamily="34" charset="0"/>
              </a:endParaRPr>
            </a:p>
          </p:txBody>
        </p:sp>
        <p:sp>
          <p:nvSpPr>
            <p:cNvPr id="42" name="TextBox 41">
              <a:extLst>
                <a:ext uri="{FF2B5EF4-FFF2-40B4-BE49-F238E27FC236}">
                  <a16:creationId xmlns:a16="http://schemas.microsoft.com/office/drawing/2014/main" id="{460AF093-50C6-F5F8-66D4-7ACD5CDAC86C}"/>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Desafíos de Limpieza</a:t>
              </a:r>
              <a:endParaRPr lang="en-US" sz="2000" dirty="0">
                <a:latin typeface="Bahnschrift SemiBold" panose="020B0502040204020203" pitchFamily="34" charset="0"/>
              </a:endParaRPr>
            </a:p>
          </p:txBody>
        </p:sp>
      </p:grpSp>
      <p:grpSp>
        <p:nvGrpSpPr>
          <p:cNvPr id="43" name="Group 42">
            <a:extLst>
              <a:ext uri="{FF2B5EF4-FFF2-40B4-BE49-F238E27FC236}">
                <a16:creationId xmlns:a16="http://schemas.microsoft.com/office/drawing/2014/main" id="{B6D7E907-573F-FD7C-B864-78474ED2BA05}"/>
              </a:ext>
            </a:extLst>
          </p:cNvPr>
          <p:cNvGrpSpPr/>
          <p:nvPr/>
        </p:nvGrpSpPr>
        <p:grpSpPr>
          <a:xfrm>
            <a:off x="5833620" y="4429867"/>
            <a:ext cx="4308750" cy="679936"/>
            <a:chOff x="6345060" y="1971736"/>
            <a:chExt cx="4680000" cy="1223484"/>
          </a:xfrm>
        </p:grpSpPr>
        <p:sp>
          <p:nvSpPr>
            <p:cNvPr id="44" name="Parallelogram 43">
              <a:extLst>
                <a:ext uri="{FF2B5EF4-FFF2-40B4-BE49-F238E27FC236}">
                  <a16:creationId xmlns:a16="http://schemas.microsoft.com/office/drawing/2014/main" id="{172ADABA-9BF9-C725-2FD8-248FC36FFEC0}"/>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5" name="Parallelogram 44">
              <a:extLst>
                <a:ext uri="{FF2B5EF4-FFF2-40B4-BE49-F238E27FC236}">
                  <a16:creationId xmlns:a16="http://schemas.microsoft.com/office/drawing/2014/main" id="{FEF21372-8D0C-D8C8-B1A2-1D722CB0E366}"/>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6" name="TextBox 45">
              <a:extLst>
                <a:ext uri="{FF2B5EF4-FFF2-40B4-BE49-F238E27FC236}">
                  <a16:creationId xmlns:a16="http://schemas.microsoft.com/office/drawing/2014/main" id="{5001A8A5-6BDF-99A5-8D2C-DEAE4CD4B14C}"/>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5</a:t>
              </a:r>
              <a:endParaRPr lang="es-CO" sz="3200" dirty="0">
                <a:solidFill>
                  <a:schemeClr val="bg1"/>
                </a:solidFill>
                <a:latin typeface="Bahnschrift SemiBold" panose="020B0502040204020203" pitchFamily="34" charset="0"/>
              </a:endParaRPr>
            </a:p>
          </p:txBody>
        </p:sp>
        <p:sp>
          <p:nvSpPr>
            <p:cNvPr id="47" name="TextBox 46">
              <a:extLst>
                <a:ext uri="{FF2B5EF4-FFF2-40B4-BE49-F238E27FC236}">
                  <a16:creationId xmlns:a16="http://schemas.microsoft.com/office/drawing/2014/main" id="{CB4AB8AE-02EB-E993-DB56-E480119D39FF}"/>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Hípotesis</a:t>
              </a:r>
              <a:endParaRPr lang="en-US" sz="2000" dirty="0">
                <a:latin typeface="Bahnschrift SemiBold" panose="020B0502040204020203" pitchFamily="34" charset="0"/>
              </a:endParaRPr>
            </a:p>
          </p:txBody>
        </p:sp>
      </p:grpSp>
      <p:grpSp>
        <p:nvGrpSpPr>
          <p:cNvPr id="2" name="Group 1">
            <a:extLst>
              <a:ext uri="{FF2B5EF4-FFF2-40B4-BE49-F238E27FC236}">
                <a16:creationId xmlns:a16="http://schemas.microsoft.com/office/drawing/2014/main" id="{F8E65CCD-47A6-8447-C1DD-651511C2809C}"/>
              </a:ext>
            </a:extLst>
          </p:cNvPr>
          <p:cNvGrpSpPr/>
          <p:nvPr/>
        </p:nvGrpSpPr>
        <p:grpSpPr>
          <a:xfrm>
            <a:off x="5535544" y="5274463"/>
            <a:ext cx="4308750" cy="679936"/>
            <a:chOff x="6345060" y="1971736"/>
            <a:chExt cx="4680000" cy="1223484"/>
          </a:xfrm>
        </p:grpSpPr>
        <p:sp>
          <p:nvSpPr>
            <p:cNvPr id="3" name="Parallelogram 2">
              <a:extLst>
                <a:ext uri="{FF2B5EF4-FFF2-40B4-BE49-F238E27FC236}">
                  <a16:creationId xmlns:a16="http://schemas.microsoft.com/office/drawing/2014/main" id="{19B2F8DA-0397-8A79-F437-54CC2C0C1CE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6" name="Parallelogram 5">
              <a:extLst>
                <a:ext uri="{FF2B5EF4-FFF2-40B4-BE49-F238E27FC236}">
                  <a16:creationId xmlns:a16="http://schemas.microsoft.com/office/drawing/2014/main" id="{F639A3B7-1B43-AEE7-3E99-B812B77A675E}"/>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2" name="TextBox 11">
              <a:extLst>
                <a:ext uri="{FF2B5EF4-FFF2-40B4-BE49-F238E27FC236}">
                  <a16:creationId xmlns:a16="http://schemas.microsoft.com/office/drawing/2014/main" id="{9FACD833-CF88-3BA1-97CC-4E9E1805F918}"/>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6</a:t>
              </a:r>
              <a:endParaRPr lang="es-CO" sz="3200" dirty="0">
                <a:solidFill>
                  <a:schemeClr val="bg1"/>
                </a:solidFill>
                <a:latin typeface="Bahnschrift SemiBold" panose="020B0502040204020203" pitchFamily="34" charset="0"/>
              </a:endParaRPr>
            </a:p>
          </p:txBody>
        </p:sp>
        <p:sp>
          <p:nvSpPr>
            <p:cNvPr id="13" name="TextBox 12">
              <a:extLst>
                <a:ext uri="{FF2B5EF4-FFF2-40B4-BE49-F238E27FC236}">
                  <a16:creationId xmlns:a16="http://schemas.microsoft.com/office/drawing/2014/main" id="{0610BA35-9A95-F8E0-DC66-3B9BBB042380}"/>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Imagen Trello</a:t>
              </a:r>
              <a:endParaRPr lang="en-US" sz="2000" dirty="0">
                <a:latin typeface="Bahnschrift SemiBold" panose="020B0502040204020203" pitchFamily="34" charset="0"/>
              </a:endParaRPr>
            </a:p>
          </p:txBody>
        </p:sp>
      </p:grpSp>
      <p:grpSp>
        <p:nvGrpSpPr>
          <p:cNvPr id="14" name="Group 13">
            <a:extLst>
              <a:ext uri="{FF2B5EF4-FFF2-40B4-BE49-F238E27FC236}">
                <a16:creationId xmlns:a16="http://schemas.microsoft.com/office/drawing/2014/main" id="{957B111C-5134-A2FF-671E-DBA6292F4812}"/>
              </a:ext>
            </a:extLst>
          </p:cNvPr>
          <p:cNvGrpSpPr/>
          <p:nvPr/>
        </p:nvGrpSpPr>
        <p:grpSpPr>
          <a:xfrm>
            <a:off x="5237468" y="6115913"/>
            <a:ext cx="4308750" cy="679936"/>
            <a:chOff x="6345060" y="1971736"/>
            <a:chExt cx="4680000" cy="1223484"/>
          </a:xfrm>
        </p:grpSpPr>
        <p:sp>
          <p:nvSpPr>
            <p:cNvPr id="15" name="Parallelogram 14">
              <a:extLst>
                <a:ext uri="{FF2B5EF4-FFF2-40B4-BE49-F238E27FC236}">
                  <a16:creationId xmlns:a16="http://schemas.microsoft.com/office/drawing/2014/main" id="{A09718F8-39A7-DE40-2D1B-F597B1E52E5E}"/>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6" name="Parallelogram 15">
              <a:extLst>
                <a:ext uri="{FF2B5EF4-FFF2-40B4-BE49-F238E27FC236}">
                  <a16:creationId xmlns:a16="http://schemas.microsoft.com/office/drawing/2014/main" id="{6AC0066F-89CC-47E7-B72C-141A1AB88919}"/>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7" name="TextBox 16">
              <a:extLst>
                <a:ext uri="{FF2B5EF4-FFF2-40B4-BE49-F238E27FC236}">
                  <a16:creationId xmlns:a16="http://schemas.microsoft.com/office/drawing/2014/main" id="{D0D18EBC-27DE-C691-D75C-683DE2DDD833}"/>
                </a:ext>
              </a:extLst>
            </p:cNvPr>
            <p:cNvSpPr txBox="1"/>
            <p:nvPr/>
          </p:nvSpPr>
          <p:spPr>
            <a:xfrm>
              <a:off x="6519022" y="2142970"/>
              <a:ext cx="713259" cy="1052250"/>
            </a:xfrm>
            <a:prstGeom prst="rect">
              <a:avLst/>
            </a:prstGeom>
            <a:noFill/>
          </p:spPr>
          <p:txBody>
            <a:bodyPr wrap="square" rtlCol="0">
              <a:spAutoFit/>
            </a:bodyPr>
            <a:lstStyle/>
            <a:p>
              <a:r>
                <a:rPr lang="es-MX" sz="3200" dirty="0">
                  <a:solidFill>
                    <a:schemeClr val="bg1"/>
                  </a:solidFill>
                  <a:latin typeface="Bahnschrift SemiBold" panose="020B0502040204020203" pitchFamily="34" charset="0"/>
                </a:rPr>
                <a:t>7</a:t>
              </a:r>
              <a:endParaRPr lang="es-CO" sz="3200" dirty="0">
                <a:solidFill>
                  <a:schemeClr val="bg1"/>
                </a:solidFill>
                <a:latin typeface="Bahnschrift SemiBold" panose="020B0502040204020203" pitchFamily="34" charset="0"/>
              </a:endParaRPr>
            </a:p>
          </p:txBody>
        </p:sp>
        <p:sp>
          <p:nvSpPr>
            <p:cNvPr id="18" name="TextBox 17">
              <a:extLst>
                <a:ext uri="{FF2B5EF4-FFF2-40B4-BE49-F238E27FC236}">
                  <a16:creationId xmlns:a16="http://schemas.microsoft.com/office/drawing/2014/main" id="{EC5126A3-7D1A-1589-475B-ADB0A59B1962}"/>
                </a:ext>
              </a:extLst>
            </p:cNvPr>
            <p:cNvSpPr txBox="1"/>
            <p:nvPr/>
          </p:nvSpPr>
          <p:spPr>
            <a:xfrm>
              <a:off x="7150785" y="2364223"/>
              <a:ext cx="3550517" cy="719962"/>
            </a:xfrm>
            <a:prstGeom prst="rect">
              <a:avLst/>
            </a:prstGeom>
            <a:noFill/>
          </p:spPr>
          <p:txBody>
            <a:bodyPr wrap="square" rtlCol="0">
              <a:spAutoFit/>
            </a:bodyPr>
            <a:lstStyle/>
            <a:p>
              <a:r>
                <a:rPr lang="en-US" sz="2000" dirty="0">
                  <a:solidFill>
                    <a:schemeClr val="bg1"/>
                  </a:solidFill>
                  <a:latin typeface="Bahnschrift SemiBold" panose="020B0502040204020203" pitchFamily="34" charset="0"/>
                </a:rPr>
                <a:t>Experiencia</a:t>
              </a:r>
              <a:endParaRPr lang="en-US" sz="2000" dirty="0">
                <a:latin typeface="Bahnschrift SemiBold" panose="020B0502040204020203" pitchFamily="34" charset="0"/>
              </a:endParaRPr>
            </a:p>
          </p:txBody>
        </p:sp>
      </p:grpSp>
    </p:spTree>
    <p:extLst>
      <p:ext uri="{BB962C8B-B14F-4D97-AF65-F5344CB8AC3E}">
        <p14:creationId xmlns:p14="http://schemas.microsoft.com/office/powerpoint/2010/main" val="42924788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50" presetClass="entr" presetSubtype="0" decel="10000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p:cTn id="20" dur="1000" fill="hold"/>
                                        <p:tgtEl>
                                          <p:spTgt spid="28"/>
                                        </p:tgtEl>
                                        <p:attrNameLst>
                                          <p:attrName>ppt_w</p:attrName>
                                        </p:attrNameLst>
                                      </p:cBhvr>
                                      <p:tavLst>
                                        <p:tav tm="0">
                                          <p:val>
                                            <p:strVal val="#ppt_w+.3"/>
                                          </p:val>
                                        </p:tav>
                                        <p:tav tm="100000">
                                          <p:val>
                                            <p:strVal val="#ppt_w"/>
                                          </p:val>
                                        </p:tav>
                                      </p:tavLst>
                                    </p:anim>
                                    <p:anim calcmode="lin" valueType="num">
                                      <p:cBhvr>
                                        <p:cTn id="21" dur="1000" fill="hold"/>
                                        <p:tgtEl>
                                          <p:spTgt spid="28"/>
                                        </p:tgtEl>
                                        <p:attrNameLst>
                                          <p:attrName>ppt_h</p:attrName>
                                        </p:attrNameLst>
                                      </p:cBhvr>
                                      <p:tavLst>
                                        <p:tav tm="0">
                                          <p:val>
                                            <p:strVal val="#ppt_h"/>
                                          </p:val>
                                        </p:tav>
                                        <p:tav tm="100000">
                                          <p:val>
                                            <p:strVal val="#ppt_h"/>
                                          </p:val>
                                        </p:tav>
                                      </p:tavLst>
                                    </p:anim>
                                    <p:animEffect transition="in" filter="fade">
                                      <p:cBhvr>
                                        <p:cTn id="22" dur="1000"/>
                                        <p:tgtEl>
                                          <p:spTgt spid="28"/>
                                        </p:tgtEl>
                                      </p:cBhvr>
                                    </p:animEffect>
                                  </p:childTnLst>
                                </p:cTn>
                              </p:par>
                            </p:childTnLst>
                          </p:cTn>
                        </p:par>
                        <p:par>
                          <p:cTn id="23" fill="hold">
                            <p:stCondLst>
                              <p:cond delay="4000"/>
                            </p:stCondLst>
                            <p:childTnLst>
                              <p:par>
                                <p:cTn id="24" presetID="50" presetClass="entr" presetSubtype="0" decel="100000" fill="hold" nodeType="afterEffect">
                                  <p:stCondLst>
                                    <p:cond delay="0"/>
                                  </p:stCondLst>
                                  <p:childTnLst>
                                    <p:set>
                                      <p:cBhvr>
                                        <p:cTn id="25" dur="1" fill="hold">
                                          <p:stCondLst>
                                            <p:cond delay="0"/>
                                          </p:stCondLst>
                                        </p:cTn>
                                        <p:tgtEl>
                                          <p:spTgt spid="33"/>
                                        </p:tgtEl>
                                        <p:attrNameLst>
                                          <p:attrName>style.visibility</p:attrName>
                                        </p:attrNameLst>
                                      </p:cBhvr>
                                      <p:to>
                                        <p:strVal val="visible"/>
                                      </p:to>
                                    </p:set>
                                    <p:anim calcmode="lin" valueType="num">
                                      <p:cBhvr>
                                        <p:cTn id="26" dur="1000" fill="hold"/>
                                        <p:tgtEl>
                                          <p:spTgt spid="33"/>
                                        </p:tgtEl>
                                        <p:attrNameLst>
                                          <p:attrName>ppt_w</p:attrName>
                                        </p:attrNameLst>
                                      </p:cBhvr>
                                      <p:tavLst>
                                        <p:tav tm="0">
                                          <p:val>
                                            <p:strVal val="#ppt_w+.3"/>
                                          </p:val>
                                        </p:tav>
                                        <p:tav tm="100000">
                                          <p:val>
                                            <p:strVal val="#ppt_w"/>
                                          </p:val>
                                        </p:tav>
                                      </p:tavLst>
                                    </p:anim>
                                    <p:anim calcmode="lin" valueType="num">
                                      <p:cBhvr>
                                        <p:cTn id="27" dur="1000" fill="hold"/>
                                        <p:tgtEl>
                                          <p:spTgt spid="33"/>
                                        </p:tgtEl>
                                        <p:attrNameLst>
                                          <p:attrName>ppt_h</p:attrName>
                                        </p:attrNameLst>
                                      </p:cBhvr>
                                      <p:tavLst>
                                        <p:tav tm="0">
                                          <p:val>
                                            <p:strVal val="#ppt_h"/>
                                          </p:val>
                                        </p:tav>
                                        <p:tav tm="100000">
                                          <p:val>
                                            <p:strVal val="#ppt_h"/>
                                          </p:val>
                                        </p:tav>
                                      </p:tavLst>
                                    </p:anim>
                                    <p:animEffect transition="in" filter="fade">
                                      <p:cBhvr>
                                        <p:cTn id="28" dur="1000"/>
                                        <p:tgtEl>
                                          <p:spTgt spid="33"/>
                                        </p:tgtEl>
                                      </p:cBhvr>
                                    </p:animEffect>
                                  </p:childTnLst>
                                </p:cTn>
                              </p:par>
                            </p:childTnLst>
                          </p:cTn>
                        </p:par>
                        <p:par>
                          <p:cTn id="29" fill="hold">
                            <p:stCondLst>
                              <p:cond delay="5000"/>
                            </p:stCondLst>
                            <p:childTnLst>
                              <p:par>
                                <p:cTn id="30" presetID="50" presetClass="entr" presetSubtype="0" decel="100000"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 calcmode="lin" valueType="num">
                                      <p:cBhvr>
                                        <p:cTn id="32" dur="1000" fill="hold"/>
                                        <p:tgtEl>
                                          <p:spTgt spid="38"/>
                                        </p:tgtEl>
                                        <p:attrNameLst>
                                          <p:attrName>ppt_w</p:attrName>
                                        </p:attrNameLst>
                                      </p:cBhvr>
                                      <p:tavLst>
                                        <p:tav tm="0">
                                          <p:val>
                                            <p:strVal val="#ppt_w+.3"/>
                                          </p:val>
                                        </p:tav>
                                        <p:tav tm="100000">
                                          <p:val>
                                            <p:strVal val="#ppt_w"/>
                                          </p:val>
                                        </p:tav>
                                      </p:tavLst>
                                    </p:anim>
                                    <p:anim calcmode="lin" valueType="num">
                                      <p:cBhvr>
                                        <p:cTn id="33" dur="1000" fill="hold"/>
                                        <p:tgtEl>
                                          <p:spTgt spid="38"/>
                                        </p:tgtEl>
                                        <p:attrNameLst>
                                          <p:attrName>ppt_h</p:attrName>
                                        </p:attrNameLst>
                                      </p:cBhvr>
                                      <p:tavLst>
                                        <p:tav tm="0">
                                          <p:val>
                                            <p:strVal val="#ppt_h"/>
                                          </p:val>
                                        </p:tav>
                                        <p:tav tm="100000">
                                          <p:val>
                                            <p:strVal val="#ppt_h"/>
                                          </p:val>
                                        </p:tav>
                                      </p:tavLst>
                                    </p:anim>
                                    <p:animEffect transition="in" filter="fade">
                                      <p:cBhvr>
                                        <p:cTn id="34" dur="1000"/>
                                        <p:tgtEl>
                                          <p:spTgt spid="38"/>
                                        </p:tgtEl>
                                      </p:cBhvr>
                                    </p:animEffect>
                                  </p:childTnLst>
                                </p:cTn>
                              </p:par>
                            </p:childTnLst>
                          </p:cTn>
                        </p:par>
                        <p:par>
                          <p:cTn id="35" fill="hold">
                            <p:stCondLst>
                              <p:cond delay="6000"/>
                            </p:stCondLst>
                            <p:childTnLst>
                              <p:par>
                                <p:cTn id="36" presetID="50" presetClass="entr" presetSubtype="0" decel="100000"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p:cTn id="38" dur="1000" fill="hold"/>
                                        <p:tgtEl>
                                          <p:spTgt spid="43"/>
                                        </p:tgtEl>
                                        <p:attrNameLst>
                                          <p:attrName>ppt_w</p:attrName>
                                        </p:attrNameLst>
                                      </p:cBhvr>
                                      <p:tavLst>
                                        <p:tav tm="0">
                                          <p:val>
                                            <p:strVal val="#ppt_w+.3"/>
                                          </p:val>
                                        </p:tav>
                                        <p:tav tm="100000">
                                          <p:val>
                                            <p:strVal val="#ppt_w"/>
                                          </p:val>
                                        </p:tav>
                                      </p:tavLst>
                                    </p:anim>
                                    <p:anim calcmode="lin" valueType="num">
                                      <p:cBhvr>
                                        <p:cTn id="39" dur="1000" fill="hold"/>
                                        <p:tgtEl>
                                          <p:spTgt spid="43"/>
                                        </p:tgtEl>
                                        <p:attrNameLst>
                                          <p:attrName>ppt_h</p:attrName>
                                        </p:attrNameLst>
                                      </p:cBhvr>
                                      <p:tavLst>
                                        <p:tav tm="0">
                                          <p:val>
                                            <p:strVal val="#ppt_h"/>
                                          </p:val>
                                        </p:tav>
                                        <p:tav tm="100000">
                                          <p:val>
                                            <p:strVal val="#ppt_h"/>
                                          </p:val>
                                        </p:tav>
                                      </p:tavLst>
                                    </p:anim>
                                    <p:animEffect transition="in" filter="fade">
                                      <p:cBhvr>
                                        <p:cTn id="40" dur="1000"/>
                                        <p:tgtEl>
                                          <p:spTgt spid="43"/>
                                        </p:tgtEl>
                                      </p:cBhvr>
                                    </p:animEffect>
                                  </p:childTnLst>
                                </p:cTn>
                              </p:par>
                            </p:childTnLst>
                          </p:cTn>
                        </p:par>
                        <p:par>
                          <p:cTn id="41" fill="hold">
                            <p:stCondLst>
                              <p:cond delay="7000"/>
                            </p:stCondLst>
                            <p:childTnLst>
                              <p:par>
                                <p:cTn id="42" presetID="50" presetClass="entr" presetSubtype="0" decel="100000"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1000" fill="hold"/>
                                        <p:tgtEl>
                                          <p:spTgt spid="2"/>
                                        </p:tgtEl>
                                        <p:attrNameLst>
                                          <p:attrName>ppt_w</p:attrName>
                                        </p:attrNameLst>
                                      </p:cBhvr>
                                      <p:tavLst>
                                        <p:tav tm="0">
                                          <p:val>
                                            <p:strVal val="#ppt_w+.3"/>
                                          </p:val>
                                        </p:tav>
                                        <p:tav tm="100000">
                                          <p:val>
                                            <p:strVal val="#ppt_w"/>
                                          </p:val>
                                        </p:tav>
                                      </p:tavLst>
                                    </p:anim>
                                    <p:anim calcmode="lin" valueType="num">
                                      <p:cBhvr>
                                        <p:cTn id="45" dur="1000" fill="hold"/>
                                        <p:tgtEl>
                                          <p:spTgt spid="2"/>
                                        </p:tgtEl>
                                        <p:attrNameLst>
                                          <p:attrName>ppt_h</p:attrName>
                                        </p:attrNameLst>
                                      </p:cBhvr>
                                      <p:tavLst>
                                        <p:tav tm="0">
                                          <p:val>
                                            <p:strVal val="#ppt_h"/>
                                          </p:val>
                                        </p:tav>
                                        <p:tav tm="100000">
                                          <p:val>
                                            <p:strVal val="#ppt_h"/>
                                          </p:val>
                                        </p:tav>
                                      </p:tavLst>
                                    </p:anim>
                                    <p:animEffect transition="in" filter="fade">
                                      <p:cBhvr>
                                        <p:cTn id="46" dur="1000"/>
                                        <p:tgtEl>
                                          <p:spTgt spid="2"/>
                                        </p:tgtEl>
                                      </p:cBhvr>
                                    </p:animEffect>
                                  </p:childTnLst>
                                </p:cTn>
                              </p:par>
                            </p:childTnLst>
                          </p:cTn>
                        </p:par>
                        <p:par>
                          <p:cTn id="47" fill="hold">
                            <p:stCondLst>
                              <p:cond delay="8000"/>
                            </p:stCondLst>
                            <p:childTnLst>
                              <p:par>
                                <p:cTn id="48" presetID="50" presetClass="entr" presetSubtype="0" decel="100000"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1000" fill="hold"/>
                                        <p:tgtEl>
                                          <p:spTgt spid="14"/>
                                        </p:tgtEl>
                                        <p:attrNameLst>
                                          <p:attrName>ppt_w</p:attrName>
                                        </p:attrNameLst>
                                      </p:cBhvr>
                                      <p:tavLst>
                                        <p:tav tm="0">
                                          <p:val>
                                            <p:strVal val="#ppt_w+.3"/>
                                          </p:val>
                                        </p:tav>
                                        <p:tav tm="100000">
                                          <p:val>
                                            <p:strVal val="#ppt_w"/>
                                          </p:val>
                                        </p:tav>
                                      </p:tavLst>
                                    </p:anim>
                                    <p:anim calcmode="lin" valueType="num">
                                      <p:cBhvr>
                                        <p:cTn id="51" dur="1000" fill="hold"/>
                                        <p:tgtEl>
                                          <p:spTgt spid="14"/>
                                        </p:tgtEl>
                                        <p:attrNameLst>
                                          <p:attrName>ppt_h</p:attrName>
                                        </p:attrNameLst>
                                      </p:cBhvr>
                                      <p:tavLst>
                                        <p:tav tm="0">
                                          <p:val>
                                            <p:strVal val="#ppt_h"/>
                                          </p:val>
                                        </p:tav>
                                        <p:tav tm="100000">
                                          <p:val>
                                            <p:strVal val="#ppt_h"/>
                                          </p:val>
                                        </p:tav>
                                      </p:tavLst>
                                    </p:anim>
                                    <p:animEffect transition="in" filter="fade">
                                      <p:cBhvr>
                                        <p:cTn id="5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1</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550517"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Introducción</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541178" y="1551398"/>
            <a:ext cx="7202184" cy="4519186"/>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La felicidad es un componente complejo de determinar para los seres humanos. Este trasciende aspectos económicos, sociales, culturales y emocionales. A partir del año 2015 varias organizaciones internacionales han desarrollado estudios sistemáticos para media la felicidad en los países, teniendo en cuenta variables como el ingreso, el apoyo social, la confianza en sus organismos gubernamentales, entre otros.</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siguiente análisis tiene como finalidad identificar los factores mas influyentes en la percepción de bienestar subjetivo a nivel global</a:t>
            </a:r>
          </a:p>
          <a:p>
            <a:pPr>
              <a:spcAft>
                <a:spcPts val="1000"/>
              </a:spcAft>
            </a:pPr>
            <a:r>
              <a:rPr lang="es-CO"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endParaRPr lang="es-CO"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88719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2</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Objetivo</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541178" y="1551398"/>
            <a:ext cx="7202184" cy="5042662"/>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objetivo principal de este análisis es comprender los determinantes más significativos de la felicidad a partir de los datos disponibles y para ello, se busca:</a:t>
            </a:r>
          </a:p>
          <a:p>
            <a:pPr marL="342900" indent="-342900">
              <a:lnSpc>
                <a:spcPct val="115000"/>
              </a:lnSpc>
              <a:spcAft>
                <a:spcPts val="1000"/>
              </a:spcAft>
              <a:buFont typeface="Arial" panose="020B0604020202020204" pitchFamily="34" charset="0"/>
              <a:buChar char="•"/>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Evaluar la influencia del PIB per cápita y el apoyo social sobre los niveles de felicidad, considerando su posible impacto combinado o individual.</a:t>
            </a:r>
          </a:p>
          <a:p>
            <a:pPr marL="342900" indent="-342900">
              <a:lnSpc>
                <a:spcPct val="115000"/>
              </a:lnSpc>
              <a:spcAft>
                <a:spcPts val="1000"/>
              </a:spcAft>
              <a:buFont typeface="Arial" panose="020B0604020202020204" pitchFamily="34" charset="0"/>
              <a:buChar char="•"/>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Comparar las puntuaciones de felicidad entre regiones, con especial énfasis en el desempeño de los países europeos respecto al resto del mundo.</a:t>
            </a:r>
          </a:p>
          <a:p>
            <a:pPr marL="342900" indent="-342900">
              <a:lnSpc>
                <a:spcPct val="115000"/>
              </a:lnSpc>
              <a:spcAft>
                <a:spcPts val="1000"/>
              </a:spcAft>
              <a:buFont typeface="Arial" panose="020B0604020202020204" pitchFamily="34" charset="0"/>
              <a:buChar char="•"/>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Analizar la relación entre la percepción de corrupción y los niveles de felicidad, para entender si un menor nivel de corrupción contribuye significativamente al bienestar percibido.</a:t>
            </a:r>
          </a:p>
        </p:txBody>
      </p:sp>
    </p:spTree>
    <p:extLst>
      <p:ext uri="{BB962C8B-B14F-4D97-AF65-F5344CB8AC3E}">
        <p14:creationId xmlns:p14="http://schemas.microsoft.com/office/powerpoint/2010/main" val="36826462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3</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Fuente</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541178" y="1551398"/>
            <a:ext cx="7202184" cy="4011611"/>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Dataset: World Happiness Report</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Format: </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CSV</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Tamaño: </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637 filas distribuidas en archivos por año (2015-2019), con al menos 13 columnas cada uno.</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Origen: </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Kaggle - https://www.kaggle.com/datasets/unsdsn/world-happiness?resource=download</a:t>
            </a:r>
          </a:p>
        </p:txBody>
      </p:sp>
    </p:spTree>
    <p:extLst>
      <p:ext uri="{BB962C8B-B14F-4D97-AF65-F5344CB8AC3E}">
        <p14:creationId xmlns:p14="http://schemas.microsoft.com/office/powerpoint/2010/main" val="33091630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4</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Desafíos de Limpieza</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541178" y="1314144"/>
            <a:ext cx="7202184" cy="4824078"/>
          </a:xfrm>
          <a:prstGeom prst="rect">
            <a:avLst/>
          </a:prstGeom>
          <a:noFill/>
        </p:spPr>
        <p:txBody>
          <a:bodyPr wrap="square" rtlCol="0">
            <a:spAutoFit/>
          </a:bodyPr>
          <a:lstStyle/>
          <a:p>
            <a:pPr marL="342900" indent="-342900">
              <a:lnSpc>
                <a:spcPct val="115000"/>
              </a:lnSpc>
              <a:spcAft>
                <a:spcPts val="1000"/>
              </a:spcAft>
              <a:buFont typeface="Arial" panose="020B0604020202020204" pitchFamily="34" charset="0"/>
              <a:buChar char="•"/>
            </a:pPr>
            <a:r>
              <a:rPr lang="es-MX" sz="16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De acuerdo a lo evidenciado en la actividad exploratoria del dataset, se identificaron variables cuyos valores nulos superaban el 70%. Al no ser datos relevantes se toma la decisión de eliminarlas (Standard error, Lower Confidence Interval, Upper Confidence Interval). </a:t>
            </a:r>
          </a:p>
          <a:p>
            <a:pPr marL="342900" indent="-342900">
              <a:lnSpc>
                <a:spcPct val="115000"/>
              </a:lnSpc>
              <a:spcAft>
                <a:spcPts val="1000"/>
              </a:spcAft>
              <a:buFont typeface="Arial" panose="020B0604020202020204" pitchFamily="34" charset="0"/>
              <a:buChar char="•"/>
            </a:pPr>
            <a:r>
              <a:rPr lang="es-MX" sz="16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el dataset, varias columnas tienen valores nulos. Para llenar estos valores se implementa como estrategia trabajarlos como la moda (Happiness Score, Economy (GDP per Capita), Family, Health (Life Expectancy, Trust (Government Corruption), Generosity, Dystopia Residual, Social support) ya que son variables indispensables para su posterior análisis. </a:t>
            </a:r>
          </a:p>
          <a:p>
            <a:pPr marL="342900" indent="-342900">
              <a:lnSpc>
                <a:spcPct val="115000"/>
              </a:lnSpc>
              <a:spcAft>
                <a:spcPts val="1000"/>
              </a:spcAft>
              <a:buFont typeface="Arial" panose="020B0604020202020204" pitchFamily="34" charset="0"/>
              <a:buChar char="•"/>
            </a:pPr>
            <a:r>
              <a:rPr lang="es-MX" sz="16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La variable categórica “Region” presenta casi el 50% de valores nulos. Para dar solución, se crea un diccionario con las series país y región. </a:t>
            </a:r>
          </a:p>
          <a:p>
            <a:pPr marL="342900" indent="-342900">
              <a:lnSpc>
                <a:spcPct val="115000"/>
              </a:lnSpc>
              <a:spcAft>
                <a:spcPts val="1000"/>
              </a:spcAft>
              <a:buFont typeface="Arial" panose="020B0604020202020204" pitchFamily="34" charset="0"/>
              <a:buChar char="•"/>
            </a:pPr>
            <a:r>
              <a:rPr lang="es-MX" sz="16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Todas las variables tienen el tipo indicado para el análisis que se requiere. </a:t>
            </a: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es-MX" sz="16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Se revisan posibles duplicados de filas pero no se evidencian.</a:t>
            </a:r>
          </a:p>
        </p:txBody>
      </p:sp>
    </p:spTree>
    <p:extLst>
      <p:ext uri="{BB962C8B-B14F-4D97-AF65-F5344CB8AC3E}">
        <p14:creationId xmlns:p14="http://schemas.microsoft.com/office/powerpoint/2010/main" val="1071722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030435-5FEF-7F8E-2638-9584F6280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7CA0A62-CF1E-C12C-7062-5D04B0221FFC}"/>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DDA9217-A4EC-A24E-4CB9-643D6EB5D7D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BBC7B3B-FABC-3B6F-DA1F-8D9081C39A74}"/>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F189DA59-8341-E2F0-5F08-9C348E78B1E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501E119E-08DF-DA26-1F91-20782DAFC403}"/>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D2B17A6-6A30-57C2-C091-6DC719297B0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B716677-C4C4-9887-797F-BD594E4060A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15F8E8B2-71B8-B240-3BE5-19AE0B57EFE9}"/>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1</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E0D09759-40E7-E51D-27FA-679D59B89A9E}"/>
              </a:ext>
            </a:extLst>
          </p:cNvPr>
          <p:cNvSpPr txBox="1"/>
          <p:nvPr/>
        </p:nvSpPr>
        <p:spPr>
          <a:xfrm>
            <a:off x="4541178" y="1319865"/>
            <a:ext cx="7108630" cy="5940344"/>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PIB per cápita y el apoyo social son los factores más relevantes para determinar la felicidad.</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Variables más relevantes:</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PIB per cápita</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Felicidad</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Soporte social</a:t>
            </a:r>
          </a:p>
          <a:p>
            <a:pPr>
              <a:lnSpc>
                <a:spcPct val="115000"/>
              </a:lnSpc>
              <a:spcAft>
                <a:spcPts val="1000"/>
              </a:spcAft>
            </a:pPr>
            <a:endPar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Justificación:</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PIB per cápita refleja el desarrollo económico de un país y se puede asociar con una mejor calidad de vida para su población.</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apoyo social es un punto muy importante para el bienestar emocional de los individuos.</a:t>
            </a:r>
          </a:p>
          <a:p>
            <a:pPr marL="342900" indent="-342900">
              <a:lnSpc>
                <a:spcPct val="115000"/>
              </a:lnSpc>
              <a:spcAft>
                <a:spcPts val="1000"/>
              </a:spcAft>
              <a:buFont typeface="Arial" panose="020B0604020202020204" pitchFamily="34" charset="0"/>
              <a:buChar char="•"/>
            </a:pPr>
            <a:endParaRPr lang="es-CO" sz="2000" dirty="0">
              <a:solidFill>
                <a:schemeClr val="bg1"/>
              </a:solidFill>
              <a:effectLst/>
              <a:latin typeface="Bahnschrift SemiBold" panose="020B05020402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28092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332C-7547-7046-5EE2-D6236BB4358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D2802F7-262B-0AE5-21E8-B23E99F80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13FF43F6-E2A3-2FEE-733F-29435E1480C1}"/>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81EA0C8C-8FC1-5E78-C6F8-86827D8E9F2E}"/>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5D12ED5F-419A-6A35-E443-24B28F67BDE6}"/>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08EC64FB-AF98-7770-F8CE-74D4038192C3}"/>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0C00A6A5-FBF2-9599-7070-42BE2C58952E}"/>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9463975A-7F88-F747-85B7-F8254D5C6DD3}"/>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ABD947F7-4F70-0CF4-1319-2572211522F3}"/>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0ACDB6D9-92EC-2DA7-7709-3264AA44B27F}"/>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1</a:t>
              </a:r>
              <a:endParaRPr lang="en-US" sz="4800" dirty="0">
                <a:latin typeface="Bahnschrift SemiBold" panose="020B0502040204020203" pitchFamily="34" charset="0"/>
              </a:endParaRPr>
            </a:p>
          </p:txBody>
        </p:sp>
      </p:grpSp>
      <p:pic>
        <p:nvPicPr>
          <p:cNvPr id="3" name="Picture 2">
            <a:extLst>
              <a:ext uri="{FF2B5EF4-FFF2-40B4-BE49-F238E27FC236}">
                <a16:creationId xmlns:a16="http://schemas.microsoft.com/office/drawing/2014/main" id="{3EB9B4A6-72D5-B0BD-8100-53648D726324}"/>
              </a:ext>
            </a:extLst>
          </p:cNvPr>
          <p:cNvPicPr>
            <a:picLocks noChangeAspect="1"/>
          </p:cNvPicPr>
          <p:nvPr/>
        </p:nvPicPr>
        <p:blipFill>
          <a:blip r:embed="rId3"/>
          <a:stretch>
            <a:fillRect/>
          </a:stretch>
        </p:blipFill>
        <p:spPr>
          <a:xfrm>
            <a:off x="4428359" y="1655870"/>
            <a:ext cx="7373817" cy="4946109"/>
          </a:xfrm>
          <a:prstGeom prst="rect">
            <a:avLst/>
          </a:prstGeom>
        </p:spPr>
      </p:pic>
    </p:spTree>
    <p:extLst>
      <p:ext uri="{BB962C8B-B14F-4D97-AF65-F5344CB8AC3E}">
        <p14:creationId xmlns:p14="http://schemas.microsoft.com/office/powerpoint/2010/main" val="11133803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0005-B504-EB8D-E0CC-9BBCFAE6ECB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6642DC4-20A0-3222-157D-104168669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D2C249BC-A028-E4F2-E7BC-266EA95CA3B4}"/>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7B33F4F6-649D-C30E-BDEA-1C5FD753C6EE}"/>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B1E72152-729A-D874-922D-058273FC66C8}"/>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DDD896E1-91A3-7CAA-D704-B2E698382D77}"/>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CBCBA285-366B-41F8-1B54-F1BC32E19660}"/>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3722E3FB-60E6-9707-9CDD-A6AAFEBD779E}"/>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F7581B70-F8F7-EFBD-1B63-BAF6422C3315}"/>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05AF6C44-9E61-58E0-04F1-A3EF138A04EA}"/>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1</a:t>
              </a:r>
              <a:endParaRPr lang="en-US" sz="4800" dirty="0">
                <a:latin typeface="Bahnschrift SemiBold" panose="020B0502040204020203" pitchFamily="34" charset="0"/>
              </a:endParaRPr>
            </a:p>
          </p:txBody>
        </p:sp>
      </p:grpSp>
      <p:pic>
        <p:nvPicPr>
          <p:cNvPr id="6" name="Picture 5">
            <a:extLst>
              <a:ext uri="{FF2B5EF4-FFF2-40B4-BE49-F238E27FC236}">
                <a16:creationId xmlns:a16="http://schemas.microsoft.com/office/drawing/2014/main" id="{67296B8E-6D50-23C6-D538-6EB3E532B4FB}"/>
              </a:ext>
            </a:extLst>
          </p:cNvPr>
          <p:cNvPicPr>
            <a:picLocks noChangeAspect="1"/>
          </p:cNvPicPr>
          <p:nvPr/>
        </p:nvPicPr>
        <p:blipFill>
          <a:blip r:embed="rId3"/>
          <a:stretch>
            <a:fillRect/>
          </a:stretch>
        </p:blipFill>
        <p:spPr>
          <a:xfrm>
            <a:off x="4541178" y="1551754"/>
            <a:ext cx="7251603" cy="4811812"/>
          </a:xfrm>
          <a:prstGeom prst="rect">
            <a:avLst/>
          </a:prstGeom>
        </p:spPr>
      </p:pic>
    </p:spTree>
    <p:extLst>
      <p:ext uri="{BB962C8B-B14F-4D97-AF65-F5344CB8AC3E}">
        <p14:creationId xmlns:p14="http://schemas.microsoft.com/office/powerpoint/2010/main" val="29242074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E323-E7F4-CBE5-20E4-9DB3C08B234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F7B101-604A-D95B-D1BF-002E30C18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3F47B871-2C8D-04C2-AA3B-3CA44AB51437}"/>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C5B7C231-DCE3-F3E3-96C6-CF2EA30EDC96}"/>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FB6DB535-525B-2AE7-679E-F1FE04705693}"/>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A2BA2270-97F2-A063-504E-9F30426E39E6}"/>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B113E4AA-BFD5-57D9-12CD-8E3F600ABE8A}"/>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545FD682-7F04-4A3A-15BA-7C4372490878}"/>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8A041DB0-6C0F-E446-DB63-8921BFFBE875}"/>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C09B50FA-9E49-07CE-CC24-F3AA36B9FC87}"/>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1</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D98B16DE-6CA4-F99C-FFB6-65507DFA65FC}"/>
              </a:ext>
            </a:extLst>
          </p:cNvPr>
          <p:cNvSpPr txBox="1"/>
          <p:nvPr/>
        </p:nvSpPr>
        <p:spPr>
          <a:xfrm>
            <a:off x="4541178" y="1319865"/>
            <a:ext cx="7108630" cy="5299143"/>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Análisis de datos y conclusiones</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PIB per cápita tiene una correlación positiva alta con el puntaje de felicidad en la mayoría de los países.</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apoyo social también muestra una relación fuerte y directa con la felicidad. En muchos casos, países con PIB moderado pero alto apoyo social (como Costa Rica o Uruguay) tienen buenos niveles de felicidad.</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conclusión, La hipótesis se valida. Tanto el PIB per cápita como el apoyo social son factores determinantes en los niveles de felicidad, siendo el apoyo social incluso más importante en países con menor riqueza.</a:t>
            </a:r>
          </a:p>
          <a:p>
            <a:pPr marL="342900" indent="-342900">
              <a:lnSpc>
                <a:spcPct val="115000"/>
              </a:lnSpc>
              <a:spcAft>
                <a:spcPts val="1000"/>
              </a:spcAft>
              <a:buFont typeface="Arial" panose="020B0604020202020204" pitchFamily="34" charset="0"/>
              <a:buChar char="•"/>
            </a:pPr>
            <a:endParaRPr lang="es-CO" sz="2000" dirty="0">
              <a:solidFill>
                <a:schemeClr val="bg1"/>
              </a:solidFill>
              <a:effectLst/>
              <a:latin typeface="Bahnschrift SemiBold" panose="020B05020402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246007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D9730-8C65-DB28-6869-317E7C460E9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1B18BB0-BDF6-15F8-208A-BA3E8567C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70C73F89-AA0F-F75F-C4F0-29F49BDFAA36}"/>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3769A266-ACBC-1C97-C316-271125F20385}"/>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EE22E0C2-4946-9309-08A2-7112642705AC}"/>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6B411AED-E6CF-FAA6-AE7F-8EA3E7934926}"/>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4B5BC689-E0AD-50C8-806A-922CAAE2D1B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4C8B2352-AEE4-4A41-FAAE-8BE50ECB00AE}"/>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94C5CF94-CA89-90F3-1F1B-ACBEAA20528E}"/>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0D37F812-272E-5C0C-DE4D-843310D7554A}"/>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2</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676BA19D-4B95-81E2-A835-702F4B602F1A}"/>
              </a:ext>
            </a:extLst>
          </p:cNvPr>
          <p:cNvSpPr txBox="1"/>
          <p:nvPr/>
        </p:nvSpPr>
        <p:spPr>
          <a:xfrm>
            <a:off x="4541178" y="1319865"/>
            <a:ext cx="7108630" cy="5014899"/>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Los países europeos tienden a tener puntuaciones de felicidad más altas que los países de otras regiones.</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Variables más relevantes:</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Región</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Felicidad</a:t>
            </a:r>
          </a:p>
          <a:p>
            <a:pPr>
              <a:lnSpc>
                <a:spcPct val="115000"/>
              </a:lnSpc>
              <a:spcAft>
                <a:spcPts val="1000"/>
              </a:spcAft>
            </a:pPr>
            <a:endPar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Justificación:</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La variable Región permite identificar los países pertenecientes a Europa (oriental, central y occidental).</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La comparación del promedio de los puntajes de felicidad permitirá identificar si Europa se destaca frente a otras regiones.</a:t>
            </a:r>
          </a:p>
        </p:txBody>
      </p:sp>
    </p:spTree>
    <p:extLst>
      <p:ext uri="{BB962C8B-B14F-4D97-AF65-F5344CB8AC3E}">
        <p14:creationId xmlns:p14="http://schemas.microsoft.com/office/powerpoint/2010/main" val="18398334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E19C-CC79-5CE8-F355-6F51876C76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BBDFC3E-E0E0-93EB-3FCC-54CE158DFE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00F59DFF-DCC4-2D46-4A28-9F3C152B0DEE}"/>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C0D04219-9273-38B3-D29A-B28726B844D1}"/>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5E4440F1-C3D7-758A-B4D2-46355EF5DD9B}"/>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7B15920F-F537-CEA2-5FE6-A50F57DC09F3}"/>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202C269E-35BF-53BC-6B28-40CB06393822}"/>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699B9CF8-418E-2BDB-5750-639C53493A6F}"/>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49B6D057-8124-3EA2-EFA5-93A8D7B4CE4E}"/>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F396758D-4742-FA69-FA06-FDAB7E6BC21F}"/>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2</a:t>
              </a:r>
              <a:endParaRPr lang="en-US" sz="4800" dirty="0">
                <a:latin typeface="Bahnschrift SemiBold" panose="020B0502040204020203" pitchFamily="34" charset="0"/>
              </a:endParaRPr>
            </a:p>
          </p:txBody>
        </p:sp>
      </p:grpSp>
      <p:pic>
        <p:nvPicPr>
          <p:cNvPr id="2" name="Picture 1">
            <a:extLst>
              <a:ext uri="{FF2B5EF4-FFF2-40B4-BE49-F238E27FC236}">
                <a16:creationId xmlns:a16="http://schemas.microsoft.com/office/drawing/2014/main" id="{32C5D200-FCB1-57DE-C2A3-D9D09021743F}"/>
              </a:ext>
            </a:extLst>
          </p:cNvPr>
          <p:cNvPicPr>
            <a:picLocks noChangeAspect="1"/>
          </p:cNvPicPr>
          <p:nvPr/>
        </p:nvPicPr>
        <p:blipFill>
          <a:blip r:embed="rId3"/>
          <a:stretch>
            <a:fillRect/>
          </a:stretch>
        </p:blipFill>
        <p:spPr>
          <a:xfrm>
            <a:off x="4417206" y="1386558"/>
            <a:ext cx="7329317" cy="5433466"/>
          </a:xfrm>
          <a:prstGeom prst="rect">
            <a:avLst/>
          </a:prstGeom>
        </p:spPr>
      </p:pic>
    </p:spTree>
    <p:extLst>
      <p:ext uri="{BB962C8B-B14F-4D97-AF65-F5344CB8AC3E}">
        <p14:creationId xmlns:p14="http://schemas.microsoft.com/office/powerpoint/2010/main" val="4212502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60EF-3B1A-CC5A-9D6C-DA02C98E30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FF34779-6F78-9BB2-F232-F8DEFDC58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4E1D125B-6D65-8EC3-3579-E9DA051FF577}"/>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C5739960-CEB6-40AC-B34B-BD4AE7AC401C}"/>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B9395331-6873-7308-5176-92157A7362C1}"/>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120730E3-14C4-A22D-653C-DA1AC16AAB04}"/>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72B6FF3E-CE46-AC05-EFD6-978397E1C9CF}"/>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1145A89A-B1AC-6BD3-E562-4391B98684A3}"/>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6FB47371-866B-7448-9401-7E178FA9CEA8}"/>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26EB4914-0776-3F9C-1F3F-353A1204A994}"/>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2</a:t>
              </a:r>
              <a:endParaRPr lang="en-US" sz="4800" dirty="0">
                <a:latin typeface="Bahnschrift SemiBold" panose="020B0502040204020203" pitchFamily="34" charset="0"/>
              </a:endParaRPr>
            </a:p>
          </p:txBody>
        </p:sp>
      </p:grpSp>
      <p:pic>
        <p:nvPicPr>
          <p:cNvPr id="3" name="Picture 2">
            <a:extLst>
              <a:ext uri="{FF2B5EF4-FFF2-40B4-BE49-F238E27FC236}">
                <a16:creationId xmlns:a16="http://schemas.microsoft.com/office/drawing/2014/main" id="{A097920D-B0A2-7D57-161D-F4CB227B9BE1}"/>
              </a:ext>
            </a:extLst>
          </p:cNvPr>
          <p:cNvPicPr>
            <a:picLocks noChangeAspect="1"/>
          </p:cNvPicPr>
          <p:nvPr/>
        </p:nvPicPr>
        <p:blipFill>
          <a:blip r:embed="rId3"/>
          <a:stretch>
            <a:fillRect/>
          </a:stretch>
        </p:blipFill>
        <p:spPr>
          <a:xfrm>
            <a:off x="4299438" y="1823862"/>
            <a:ext cx="7603315" cy="3346015"/>
          </a:xfrm>
          <a:prstGeom prst="rect">
            <a:avLst/>
          </a:prstGeom>
        </p:spPr>
      </p:pic>
    </p:spTree>
    <p:extLst>
      <p:ext uri="{BB962C8B-B14F-4D97-AF65-F5344CB8AC3E}">
        <p14:creationId xmlns:p14="http://schemas.microsoft.com/office/powerpoint/2010/main" val="6672574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D7EC-55F1-F9D6-4227-19BBA60BA2E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920C4C3-3F76-5511-2330-D01260BE50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CCFD5D58-030A-7396-6999-A0CB8F3C9657}"/>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29304ED1-424C-A4A1-36B4-0FC86F78C946}"/>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4F7F276C-90FD-F915-9EF0-7BB49F0B1DD3}"/>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EDA50C60-CC2C-3464-CD17-C7E24A647FDA}"/>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92023F88-31A8-3CAA-0DD5-1D7FB633841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97817701-6B7A-44F1-5205-C1F72DBE32D3}"/>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E4FF09B7-3E07-2A7A-3EA1-B1161AB087E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DD670419-FFE1-8EE5-0FF7-C37537740B08}"/>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2</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FEACD5F6-EEC5-F04C-1CB5-0A3FD313E9A3}"/>
              </a:ext>
            </a:extLst>
          </p:cNvPr>
          <p:cNvSpPr txBox="1"/>
          <p:nvPr/>
        </p:nvSpPr>
        <p:spPr>
          <a:xfrm>
            <a:off x="4541178" y="1319865"/>
            <a:ext cx="7108630" cy="6135269"/>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Análisis de datos y conclusiones</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el gráfico de barras por región, Europa Occidental se ubica en el tercer escalón de los puntajes de felicidad, con países como Finlandia, Dinamarca y Suiza ocupando los primeros lugares.</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el mapa mundial, se ve una clara concentración de altos puntajes en Europa, específicamente en el norte.</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Comparando con regiones como África, Sudamérica o Asia del Sur, la diferencia es estadísticamente y visualmente significativa.</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conclusión, La hipótesis es válida. Europa, especialmente su zona norte y occidental, muestra consistentemente niveles de felicidad más altos que otras regiones del mundo.</a:t>
            </a:r>
          </a:p>
          <a:p>
            <a:pPr marL="342900" indent="-342900">
              <a:lnSpc>
                <a:spcPct val="115000"/>
              </a:lnSpc>
              <a:spcAft>
                <a:spcPts val="1000"/>
              </a:spcAft>
              <a:buFont typeface="Arial" panose="020B0604020202020204" pitchFamily="34" charset="0"/>
              <a:buChar char="•"/>
            </a:pPr>
            <a:endParaRPr lang="es-CO" sz="2000" dirty="0">
              <a:solidFill>
                <a:schemeClr val="bg1"/>
              </a:solidFill>
              <a:effectLst/>
              <a:latin typeface="Bahnschrift SemiBold" panose="020B05020402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80542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9532F-62A2-B1E7-3D16-8BC338792F9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07A866B-DBB3-DE27-EB82-CD22C6C77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BBAEA138-CCE5-38C5-F610-E7F99932F773}"/>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123F81CA-66DB-188A-80A1-17DB6A5573C8}"/>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E8DCC2C5-AE83-5A67-472C-E849C56F9D30}"/>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28A37264-415D-73DD-4D6A-F684183D960B}"/>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6A826C6F-D831-55CE-1180-A82CAAC0A6A5}"/>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C29DFC6A-3300-F85D-44EF-7743FC3D59AC}"/>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FC0C3AB4-5CAB-4A43-2DFA-B63CD8033C39}"/>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46F0A87B-2C85-3760-CA05-235D779F6DC6}"/>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3</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D2AE8372-F5AA-5F2F-1C1C-25ABDFB57429}"/>
              </a:ext>
            </a:extLst>
          </p:cNvPr>
          <p:cNvSpPr txBox="1"/>
          <p:nvPr/>
        </p:nvSpPr>
        <p:spPr>
          <a:xfrm>
            <a:off x="4541178" y="1319865"/>
            <a:ext cx="7108630" cy="4568110"/>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Los niveles de corrupción percibida están inversamente relacionados con los niveles de felicidad.</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Variables más relevantes:</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Confianza</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Felicidad</a:t>
            </a:r>
          </a:p>
          <a:p>
            <a:pPr>
              <a:lnSpc>
                <a:spcPct val="115000"/>
              </a:lnSpc>
              <a:spcAft>
                <a:spcPts val="1000"/>
              </a:spcAft>
            </a:pPr>
            <a:endPar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Justificación:</a:t>
            </a:r>
          </a:p>
          <a:p>
            <a:pPr>
              <a:lnSpc>
                <a:spcPct val="115000"/>
              </a:lnSpc>
              <a:spcAft>
                <a:spcPts val="1000"/>
              </a:spcAft>
            </a:pPr>
            <a:r>
              <a:rPr lang="es-MX"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La variable confianza permite conocer el grado de confianza de la población con respecto a sus gobernantes. El valor más bajo indica mayor nivel de corrupción.</a:t>
            </a:r>
          </a:p>
        </p:txBody>
      </p:sp>
    </p:spTree>
    <p:extLst>
      <p:ext uri="{BB962C8B-B14F-4D97-AF65-F5344CB8AC3E}">
        <p14:creationId xmlns:p14="http://schemas.microsoft.com/office/powerpoint/2010/main" val="184415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E745-3886-35CB-79A6-123E43BDCAE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B8174A7-25A4-998B-0509-FF09B63CD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AF4086D0-8808-CAA4-2AC5-2F9ABE80B8C1}"/>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966E49D-6756-605A-B177-4EA2F60A7C3B}"/>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CA8402DD-E58F-FEEE-1D90-C5C389591409}"/>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A9625CCB-BF85-CEEB-C9DD-AC98EB3AC10C}"/>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D84DD2BF-E078-8659-257C-F6B6F4BD2479}"/>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8717AFA5-69E2-8246-3195-A621B71C19D5}"/>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09B72E5F-A2EF-3F64-C177-2388DB2896C7}"/>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0C1A05D4-0A76-807B-1DFA-31F3F41F53E8}"/>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3</a:t>
              </a:r>
              <a:endParaRPr lang="en-US" sz="4800" dirty="0">
                <a:latin typeface="Bahnschrift SemiBold" panose="020B0502040204020203" pitchFamily="34" charset="0"/>
              </a:endParaRPr>
            </a:p>
          </p:txBody>
        </p:sp>
      </p:grpSp>
      <p:pic>
        <p:nvPicPr>
          <p:cNvPr id="3" name="Picture 2">
            <a:extLst>
              <a:ext uri="{FF2B5EF4-FFF2-40B4-BE49-F238E27FC236}">
                <a16:creationId xmlns:a16="http://schemas.microsoft.com/office/drawing/2014/main" id="{74EF6479-7E0F-C956-57A2-D3468F4D4D80}"/>
              </a:ext>
            </a:extLst>
          </p:cNvPr>
          <p:cNvPicPr>
            <a:picLocks noChangeAspect="1"/>
          </p:cNvPicPr>
          <p:nvPr/>
        </p:nvPicPr>
        <p:blipFill>
          <a:blip r:embed="rId3"/>
          <a:stretch>
            <a:fillRect/>
          </a:stretch>
        </p:blipFill>
        <p:spPr>
          <a:xfrm>
            <a:off x="4243703" y="2321568"/>
            <a:ext cx="7650822" cy="3934507"/>
          </a:xfrm>
          <a:prstGeom prst="rect">
            <a:avLst/>
          </a:prstGeom>
        </p:spPr>
      </p:pic>
    </p:spTree>
    <p:extLst>
      <p:ext uri="{BB962C8B-B14F-4D97-AF65-F5344CB8AC3E}">
        <p14:creationId xmlns:p14="http://schemas.microsoft.com/office/powerpoint/2010/main" val="27897798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95AD-974F-5D25-557F-089C0B1B692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77414A3-B46B-63A4-1A3E-95A113AE3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12D75BF9-59E8-9BAA-6ABE-7B0588721CC1}"/>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4CA2CF56-D600-05B4-D7A8-CE1418BC6BD1}"/>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7B7888D8-E66F-1ECF-1CA1-E17A86817030}"/>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6E91F03B-AF53-2D8A-B1CD-2AC30D4B2E9E}"/>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056BD18E-7545-3D30-FD69-2C3518A9D6F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1AA5204E-16FE-6D21-9505-9536ECC1F564}"/>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9725DB96-7322-EE8F-BE71-1A938CEC54D1}"/>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68AD7F18-B361-FD2C-3753-2A6E524BFE2A}"/>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3</a:t>
              </a:r>
              <a:endParaRPr lang="en-US" sz="4800" dirty="0">
                <a:latin typeface="Bahnschrift SemiBold" panose="020B0502040204020203" pitchFamily="34" charset="0"/>
              </a:endParaRPr>
            </a:p>
          </p:txBody>
        </p:sp>
      </p:grpSp>
      <p:pic>
        <p:nvPicPr>
          <p:cNvPr id="2" name="Picture 1">
            <a:extLst>
              <a:ext uri="{FF2B5EF4-FFF2-40B4-BE49-F238E27FC236}">
                <a16:creationId xmlns:a16="http://schemas.microsoft.com/office/drawing/2014/main" id="{BB0A330A-83BC-08A6-0A90-F56A25AF3980}"/>
              </a:ext>
            </a:extLst>
          </p:cNvPr>
          <p:cNvPicPr>
            <a:picLocks noChangeAspect="1"/>
          </p:cNvPicPr>
          <p:nvPr/>
        </p:nvPicPr>
        <p:blipFill>
          <a:blip r:embed="rId3"/>
          <a:stretch>
            <a:fillRect/>
          </a:stretch>
        </p:blipFill>
        <p:spPr>
          <a:xfrm>
            <a:off x="4243703" y="2135139"/>
            <a:ext cx="7650822" cy="4230454"/>
          </a:xfrm>
          <a:prstGeom prst="rect">
            <a:avLst/>
          </a:prstGeom>
        </p:spPr>
      </p:pic>
    </p:spTree>
    <p:extLst>
      <p:ext uri="{BB962C8B-B14F-4D97-AF65-F5344CB8AC3E}">
        <p14:creationId xmlns:p14="http://schemas.microsoft.com/office/powerpoint/2010/main" val="21471215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E7D8-1C22-E3DD-CBFF-7AFF9F82F84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D7C04FF-D191-EF6D-6210-71DC88192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F148F6C0-872C-6805-96C5-88C3BC8739FF}"/>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91F5850E-26BB-5E17-AF90-30FDE88EFC3B}"/>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213E59F9-3973-4F88-D1A3-AC234CBD57FF}"/>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07D364EF-5015-A222-BEAD-BE55C44C3462}"/>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E5BA4851-DBA3-BCBA-6659-66668926F3DD}"/>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33A05BA0-186C-27CB-EEAC-C752F6FECE81}"/>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22EB9204-8DB5-DB6B-A26F-CFACB2DC797C}"/>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492F30DB-84EF-F232-A99F-3B9558AF23AD}"/>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Hípotesis 3</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030ADBF2-C871-8009-15E2-A9CCEC37D13C}"/>
              </a:ext>
            </a:extLst>
          </p:cNvPr>
          <p:cNvSpPr txBox="1"/>
          <p:nvPr/>
        </p:nvSpPr>
        <p:spPr>
          <a:xfrm>
            <a:off x="4541178" y="1319865"/>
            <a:ext cx="7108630" cy="5299143"/>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Análisis de datos y conclusiones</a:t>
            </a:r>
          </a:p>
          <a:p>
            <a:pPr>
              <a:lnSpc>
                <a:spcPct val="115000"/>
              </a:lnSpc>
              <a:spcAft>
                <a:spcPts val="1000"/>
              </a:spcAft>
            </a:pPr>
            <a:endPar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endParaRP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El gráfico de dispersión entre confianza en el gobierno y felicidad muestra una relación inversa moderada: a mayor confianza (menor corrupción), mayor felicidad.</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Hay excepciones como en algunos países de Latinoamérica que presentan una baja confianza gubernamental pero sus niveles de felicidad son aceptables.</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En conclusión, La hipótesis se valida parcialmente. Existe una relación inversa clara entre percepción de corrupción y felicidad, aunque otros factores como el apoyo social pueden mitigar este efecto en ciertos países.</a:t>
            </a:r>
          </a:p>
          <a:p>
            <a:pPr marL="342900" indent="-342900">
              <a:lnSpc>
                <a:spcPct val="115000"/>
              </a:lnSpc>
              <a:spcAft>
                <a:spcPts val="1000"/>
              </a:spcAft>
              <a:buFont typeface="Arial" panose="020B0604020202020204" pitchFamily="34" charset="0"/>
              <a:buChar char="•"/>
            </a:pPr>
            <a:endParaRPr lang="es-CO" sz="2000" dirty="0">
              <a:solidFill>
                <a:schemeClr val="bg1"/>
              </a:solidFill>
              <a:effectLst/>
              <a:latin typeface="Bahnschrift SemiBold" panose="020B0502040204020203"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8500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AFB51-819D-9B9D-A9C7-7F03039D202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CA88B14-4538-D4C1-6939-99E494C2E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8F4805C6-9F97-E487-99AA-DF8BF74D8164}"/>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01DD6D8B-8B7B-597F-7628-8328435C274D}"/>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836ABC2A-FE2C-87D9-9646-FB8DE2915CE1}"/>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A372A5D0-1D22-4003-E7DF-BD73B750FEE1}"/>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C0BDEB42-8F96-520C-CFDB-69A03BE0E15A}"/>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01DFC9B-3FF2-AF9C-1395-31F7045F88C4}"/>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45D4D2A1-57C6-D9C6-49EB-70CB3CAD4BB6}"/>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84AE28DB-CC69-08FC-436E-0047D24AAF36}"/>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Imagen Trello</a:t>
              </a:r>
              <a:endParaRPr lang="en-US" sz="4800" dirty="0">
                <a:latin typeface="Bahnschrift SemiBold" panose="020B0502040204020203" pitchFamily="34" charset="0"/>
              </a:endParaRPr>
            </a:p>
          </p:txBody>
        </p:sp>
      </p:grpSp>
      <p:pic>
        <p:nvPicPr>
          <p:cNvPr id="6" name="Picture 5">
            <a:extLst>
              <a:ext uri="{FF2B5EF4-FFF2-40B4-BE49-F238E27FC236}">
                <a16:creationId xmlns:a16="http://schemas.microsoft.com/office/drawing/2014/main" id="{568E8E32-E0A2-F115-35E9-AD4744AD0F89}"/>
              </a:ext>
            </a:extLst>
          </p:cNvPr>
          <p:cNvPicPr>
            <a:picLocks noChangeAspect="1"/>
          </p:cNvPicPr>
          <p:nvPr/>
        </p:nvPicPr>
        <p:blipFill>
          <a:blip r:embed="rId3"/>
          <a:stretch>
            <a:fillRect/>
          </a:stretch>
        </p:blipFill>
        <p:spPr>
          <a:xfrm>
            <a:off x="4432837" y="1501857"/>
            <a:ext cx="7447085" cy="3674146"/>
          </a:xfrm>
          <a:prstGeom prst="rect">
            <a:avLst/>
          </a:prstGeom>
        </p:spPr>
      </p:pic>
    </p:spTree>
    <p:extLst>
      <p:ext uri="{BB962C8B-B14F-4D97-AF65-F5344CB8AC3E}">
        <p14:creationId xmlns:p14="http://schemas.microsoft.com/office/powerpoint/2010/main" val="65260677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003-C3A7-C79F-4C02-E4F59146738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8A05DCE-67D5-095F-9946-ED9C07BAE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0233061" cy="6825372"/>
          </a:xfrm>
          <a:prstGeom prst="rect">
            <a:avLst/>
          </a:prstGeom>
        </p:spPr>
      </p:pic>
      <p:sp>
        <p:nvSpPr>
          <p:cNvPr id="22" name="Rectangle 3">
            <a:extLst>
              <a:ext uri="{FF2B5EF4-FFF2-40B4-BE49-F238E27FC236}">
                <a16:creationId xmlns:a16="http://schemas.microsoft.com/office/drawing/2014/main" id="{C6CC73DF-047D-84D4-D14A-D438E5A0BD8F}"/>
              </a:ext>
            </a:extLst>
          </p:cNvPr>
          <p:cNvSpPr/>
          <p:nvPr/>
        </p:nvSpPr>
        <p:spPr>
          <a:xfrm>
            <a:off x="2109955" y="-10274"/>
            <a:ext cx="8149478" cy="6868274"/>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62653 w 9000000"/>
              <a:gd name="connsiteY0" fmla="*/ 0 h 6899096"/>
              <a:gd name="connsiteX1" fmla="*/ 9000000 w 9000000"/>
              <a:gd name="connsiteY1" fmla="*/ 41096 h 6899096"/>
              <a:gd name="connsiteX2" fmla="*/ 9000000 w 9000000"/>
              <a:gd name="connsiteY2" fmla="*/ 6899096 h 6899096"/>
              <a:gd name="connsiteX3" fmla="*/ 0 w 9000000"/>
              <a:gd name="connsiteY3" fmla="*/ 6899096 h 6899096"/>
              <a:gd name="connsiteX4" fmla="*/ 1762653 w 9000000"/>
              <a:gd name="connsiteY4" fmla="*/ 0 h 6899096"/>
              <a:gd name="connsiteX0" fmla="*/ 1738444 w 9000000"/>
              <a:gd name="connsiteY0" fmla="*/ 0 h 6868274"/>
              <a:gd name="connsiteX1" fmla="*/ 9000000 w 9000000"/>
              <a:gd name="connsiteY1" fmla="*/ 10274 h 6868274"/>
              <a:gd name="connsiteX2" fmla="*/ 9000000 w 9000000"/>
              <a:gd name="connsiteY2" fmla="*/ 6868274 h 6868274"/>
              <a:gd name="connsiteX3" fmla="*/ 0 w 9000000"/>
              <a:gd name="connsiteY3" fmla="*/ 6868274 h 6868274"/>
              <a:gd name="connsiteX4" fmla="*/ 1738444 w 9000000"/>
              <a:gd name="connsiteY4" fmla="*/ 0 h 6868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68274">
                <a:moveTo>
                  <a:pt x="1738444" y="0"/>
                </a:moveTo>
                <a:lnTo>
                  <a:pt x="9000000" y="10274"/>
                </a:lnTo>
                <a:lnTo>
                  <a:pt x="9000000" y="6868274"/>
                </a:lnTo>
                <a:lnTo>
                  <a:pt x="0" y="6868274"/>
                </a:lnTo>
                <a:lnTo>
                  <a:pt x="1738444" y="0"/>
                </a:lnTo>
                <a:close/>
              </a:path>
            </a:pathLst>
          </a:custGeom>
          <a:solidFill>
            <a:schemeClr val="tx1">
              <a:lumMod val="95000"/>
              <a:lumOff val="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Rectangle 3">
            <a:extLst>
              <a:ext uri="{FF2B5EF4-FFF2-40B4-BE49-F238E27FC236}">
                <a16:creationId xmlns:a16="http://schemas.microsoft.com/office/drawing/2014/main" id="{B78A6519-F67A-ED4F-0F43-E783F80F3331}"/>
              </a:ext>
            </a:extLst>
          </p:cNvPr>
          <p:cNvSpPr/>
          <p:nvPr/>
        </p:nvSpPr>
        <p:spPr>
          <a:xfrm>
            <a:off x="3192000" y="0"/>
            <a:ext cx="9000000" cy="6858000"/>
          </a:xfrm>
          <a:custGeom>
            <a:avLst/>
            <a:gdLst>
              <a:gd name="connsiteX0" fmla="*/ 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0 w 9000000"/>
              <a:gd name="connsiteY4" fmla="*/ 0 h 6858000"/>
              <a:gd name="connsiteX0" fmla="*/ 2496620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2496620 w 9000000"/>
              <a:gd name="connsiteY4" fmla="*/ 0 h 6858000"/>
              <a:gd name="connsiteX0" fmla="*/ 1633591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633591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61672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61672 w 9000000"/>
              <a:gd name="connsiteY4" fmla="*/ 0 h 6858000"/>
              <a:gd name="connsiteX0" fmla="*/ 1541124 w 9000000"/>
              <a:gd name="connsiteY0" fmla="*/ 0 h 6899097"/>
              <a:gd name="connsiteX1" fmla="*/ 9000000 w 9000000"/>
              <a:gd name="connsiteY1" fmla="*/ 41097 h 6899097"/>
              <a:gd name="connsiteX2" fmla="*/ 9000000 w 9000000"/>
              <a:gd name="connsiteY2" fmla="*/ 6899097 h 6899097"/>
              <a:gd name="connsiteX3" fmla="*/ 0 w 9000000"/>
              <a:gd name="connsiteY3" fmla="*/ 6899097 h 6899097"/>
              <a:gd name="connsiteX4" fmla="*/ 1541124 w 9000000"/>
              <a:gd name="connsiteY4" fmla="*/ 0 h 6899097"/>
              <a:gd name="connsiteX0" fmla="*/ 1520576 w 9000000"/>
              <a:gd name="connsiteY0" fmla="*/ 0 h 6858000"/>
              <a:gd name="connsiteX1" fmla="*/ 9000000 w 9000000"/>
              <a:gd name="connsiteY1" fmla="*/ 0 h 6858000"/>
              <a:gd name="connsiteX2" fmla="*/ 9000000 w 9000000"/>
              <a:gd name="connsiteY2" fmla="*/ 6858000 h 6858000"/>
              <a:gd name="connsiteX3" fmla="*/ 0 w 9000000"/>
              <a:gd name="connsiteY3" fmla="*/ 6858000 h 6858000"/>
              <a:gd name="connsiteX4" fmla="*/ 1520576 w 9000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00000" h="6858000">
                <a:moveTo>
                  <a:pt x="1520576" y="0"/>
                </a:moveTo>
                <a:lnTo>
                  <a:pt x="9000000" y="0"/>
                </a:lnTo>
                <a:lnTo>
                  <a:pt x="9000000" y="6858000"/>
                </a:lnTo>
                <a:lnTo>
                  <a:pt x="0" y="6858000"/>
                </a:lnTo>
                <a:lnTo>
                  <a:pt x="1520576" y="0"/>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5" name="Isosceles Triangle 4">
            <a:extLst>
              <a:ext uri="{FF2B5EF4-FFF2-40B4-BE49-F238E27FC236}">
                <a16:creationId xmlns:a16="http://schemas.microsoft.com/office/drawing/2014/main" id="{3AE5B529-BBF2-A042-2C5D-1359CA5E5913}"/>
              </a:ext>
            </a:extLst>
          </p:cNvPr>
          <p:cNvSpPr/>
          <p:nvPr/>
        </p:nvSpPr>
        <p:spPr>
          <a:xfrm rot="10800000">
            <a:off x="0" y="2"/>
            <a:ext cx="1541124" cy="6857998"/>
          </a:xfrm>
          <a:prstGeom prst="triangle">
            <a:avLst>
              <a:gd name="adj" fmla="val 100000"/>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5" name="Group 24">
            <a:extLst>
              <a:ext uri="{FF2B5EF4-FFF2-40B4-BE49-F238E27FC236}">
                <a16:creationId xmlns:a16="http://schemas.microsoft.com/office/drawing/2014/main" id="{B889036C-3CA6-DB43-E9EA-329DF6ACAFDD}"/>
              </a:ext>
            </a:extLst>
          </p:cNvPr>
          <p:cNvGrpSpPr/>
          <p:nvPr/>
        </p:nvGrpSpPr>
        <p:grpSpPr>
          <a:xfrm>
            <a:off x="4541178" y="80386"/>
            <a:ext cx="7650822" cy="1223484"/>
            <a:chOff x="6345060" y="1971736"/>
            <a:chExt cx="4680000" cy="1223484"/>
          </a:xfrm>
        </p:grpSpPr>
        <p:sp>
          <p:nvSpPr>
            <p:cNvPr id="8" name="Parallelogram 7">
              <a:extLst>
                <a:ext uri="{FF2B5EF4-FFF2-40B4-BE49-F238E27FC236}">
                  <a16:creationId xmlns:a16="http://schemas.microsoft.com/office/drawing/2014/main" id="{7A4294FC-E24B-DE50-A11D-9D913978D831}"/>
                </a:ext>
              </a:extLst>
            </p:cNvPr>
            <p:cNvSpPr/>
            <p:nvPr/>
          </p:nvSpPr>
          <p:spPr>
            <a:xfrm>
              <a:off x="6345060" y="1971736"/>
              <a:ext cx="4680000" cy="1080000"/>
            </a:xfrm>
            <a:prstGeom prst="parallelogram">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Parallelogram 8">
              <a:extLst>
                <a:ext uri="{FF2B5EF4-FFF2-40B4-BE49-F238E27FC236}">
                  <a16:creationId xmlns:a16="http://schemas.microsoft.com/office/drawing/2014/main" id="{2712FF0A-C03D-1DC2-C19D-F5BAA312716F}"/>
                </a:ext>
              </a:extLst>
            </p:cNvPr>
            <p:cNvSpPr/>
            <p:nvPr/>
          </p:nvSpPr>
          <p:spPr>
            <a:xfrm>
              <a:off x="7006355" y="2219620"/>
              <a:ext cx="3888000" cy="975600"/>
            </a:xfrm>
            <a:prstGeom prst="parallelogram">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TextBox 9">
              <a:extLst>
                <a:ext uri="{FF2B5EF4-FFF2-40B4-BE49-F238E27FC236}">
                  <a16:creationId xmlns:a16="http://schemas.microsoft.com/office/drawing/2014/main" id="{F11EAC12-1B03-D723-3A16-3533AA682EBB}"/>
                </a:ext>
              </a:extLst>
            </p:cNvPr>
            <p:cNvSpPr txBox="1"/>
            <p:nvPr/>
          </p:nvSpPr>
          <p:spPr>
            <a:xfrm>
              <a:off x="6437526" y="2235615"/>
              <a:ext cx="653501" cy="830997"/>
            </a:xfrm>
            <a:prstGeom prst="rect">
              <a:avLst/>
            </a:prstGeom>
            <a:noFill/>
          </p:spPr>
          <p:txBody>
            <a:bodyPr wrap="square" rtlCol="0">
              <a:spAutoFit/>
            </a:bodyPr>
            <a:lstStyle/>
            <a:p>
              <a:r>
                <a:rPr lang="es-MX" sz="4800" dirty="0">
                  <a:solidFill>
                    <a:schemeClr val="bg1"/>
                  </a:solidFill>
                  <a:latin typeface="Bahnschrift SemiBold" panose="020B0502040204020203" pitchFamily="34" charset="0"/>
                </a:rPr>
                <a:t>5</a:t>
              </a:r>
              <a:endParaRPr lang="es-CO" sz="4800" dirty="0">
                <a:solidFill>
                  <a:schemeClr val="bg1"/>
                </a:solidFill>
                <a:latin typeface="Bahnschrift SemiBold" panose="020B0502040204020203" pitchFamily="34" charset="0"/>
              </a:endParaRPr>
            </a:p>
          </p:txBody>
        </p:sp>
        <p:sp>
          <p:nvSpPr>
            <p:cNvPr id="11" name="TextBox 10">
              <a:extLst>
                <a:ext uri="{FF2B5EF4-FFF2-40B4-BE49-F238E27FC236}">
                  <a16:creationId xmlns:a16="http://schemas.microsoft.com/office/drawing/2014/main" id="{7133E95A-B8D4-71AF-CA38-7153EAC43ABE}"/>
                </a:ext>
              </a:extLst>
            </p:cNvPr>
            <p:cNvSpPr txBox="1"/>
            <p:nvPr/>
          </p:nvSpPr>
          <p:spPr>
            <a:xfrm>
              <a:off x="7150785" y="2364223"/>
              <a:ext cx="3692310" cy="830997"/>
            </a:xfrm>
            <a:prstGeom prst="rect">
              <a:avLst/>
            </a:prstGeom>
            <a:noFill/>
          </p:spPr>
          <p:txBody>
            <a:bodyPr wrap="square" rtlCol="0">
              <a:spAutoFit/>
            </a:bodyPr>
            <a:lstStyle/>
            <a:p>
              <a:r>
                <a:rPr lang="en-US" sz="4800" dirty="0">
                  <a:solidFill>
                    <a:schemeClr val="bg1"/>
                  </a:solidFill>
                  <a:latin typeface="Bahnschrift SemiBold" panose="020B0502040204020203" pitchFamily="34" charset="0"/>
                </a:rPr>
                <a:t>Experiencia</a:t>
              </a:r>
              <a:endParaRPr lang="en-US" sz="4800" dirty="0">
                <a:latin typeface="Bahnschrift SemiBold" panose="020B0502040204020203" pitchFamily="34" charset="0"/>
              </a:endParaRPr>
            </a:p>
          </p:txBody>
        </p:sp>
      </p:grpSp>
      <p:sp>
        <p:nvSpPr>
          <p:cNvPr id="2" name="TextBox 1">
            <a:extLst>
              <a:ext uri="{FF2B5EF4-FFF2-40B4-BE49-F238E27FC236}">
                <a16:creationId xmlns:a16="http://schemas.microsoft.com/office/drawing/2014/main" id="{5C494DC1-1668-D5D9-9000-CF1B63DD40E1}"/>
              </a:ext>
            </a:extLst>
          </p:cNvPr>
          <p:cNvSpPr txBox="1"/>
          <p:nvPr/>
        </p:nvSpPr>
        <p:spPr>
          <a:xfrm>
            <a:off x="4541178" y="1319865"/>
            <a:ext cx="7108630" cy="4078296"/>
          </a:xfrm>
          <a:prstGeom prst="rect">
            <a:avLst/>
          </a:prstGeom>
          <a:noFill/>
        </p:spPr>
        <p:txBody>
          <a:bodyPr wrap="square" rtlCol="0">
            <a:spAutoFit/>
          </a:bodyPr>
          <a:lstStyle/>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Este proyecto se centró en analizar la felicidad a nivel global utilizando un set de datos con indicadores económicos, sociales y culturales. Por medio de la herramienta Power BI se analizaron 3 hipótesis relacionadas con la felicidad, el PIB per cápita, el apoyo social, el soporte social, el nivel de confianza gubernamental y la región geográfica de los países.</a:t>
            </a:r>
          </a:p>
          <a:p>
            <a:pPr>
              <a:lnSpc>
                <a:spcPct val="115000"/>
              </a:lnSpc>
              <a:spcAft>
                <a:spcPts val="1000"/>
              </a:spcAft>
            </a:pPr>
            <a:r>
              <a:rPr lang="es-MX" sz="2000" dirty="0">
                <a:solidFill>
                  <a:schemeClr val="bg1"/>
                </a:solidFill>
                <a:latin typeface="Bahnschrift SemiBold" panose="020B0502040204020203" pitchFamily="34" charset="0"/>
                <a:ea typeface="Calibri" panose="020F0502020204030204" pitchFamily="34" charset="0"/>
                <a:cs typeface="Times New Roman" panose="02020603050405020304" pitchFamily="18" charset="0"/>
              </a:rPr>
              <a:t>Fue muy enriquecedora la experiencia y nos permitió interpretar las tendencias entre variables, utilizar segmentaciones para descubrir patrones al detalle y validar las hipótesis de forma visual y dinámica.</a:t>
            </a:r>
          </a:p>
        </p:txBody>
      </p:sp>
    </p:spTree>
    <p:extLst>
      <p:ext uri="{BB962C8B-B14F-4D97-AF65-F5344CB8AC3E}">
        <p14:creationId xmlns:p14="http://schemas.microsoft.com/office/powerpoint/2010/main" val="255397314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0 0 L -0.25 0 E" pathEditMode="relative" ptsTypes="">
                                      <p:cBhvr>
                                        <p:cTn id="6" dur="2000" fill="hold"/>
                                        <p:tgtEl>
                                          <p:spTgt spid="7"/>
                                        </p:tgtEl>
                                        <p:attrNameLst>
                                          <p:attrName>ppt_x</p:attrName>
                                          <p:attrName>ppt_y</p:attrName>
                                        </p:attrNameLst>
                                      </p:cBhvr>
                                    </p:animMotion>
                                  </p:childTnLst>
                                </p:cTn>
                              </p:par>
                              <p:par>
                                <p:cTn id="7" presetID="2" presetClass="entr" presetSubtype="2"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anim calcmode="lin" valueType="num">
                                      <p:cBhvr additive="base">
                                        <p:cTn id="9" dur="500" fill="hold"/>
                                        <p:tgtEl>
                                          <p:spTgt spid="22"/>
                                        </p:tgtEl>
                                        <p:attrNameLst>
                                          <p:attrName>ppt_x</p:attrName>
                                        </p:attrNameLst>
                                      </p:cBhvr>
                                      <p:tavLst>
                                        <p:tav tm="0">
                                          <p:val>
                                            <p:strVal val="1+#ppt_w/2"/>
                                          </p:val>
                                        </p:tav>
                                        <p:tav tm="100000">
                                          <p:val>
                                            <p:strVal val="#ppt_x"/>
                                          </p:val>
                                        </p:tav>
                                      </p:tavLst>
                                    </p:anim>
                                    <p:anim calcmode="lin" valueType="num">
                                      <p:cBhvr additive="base">
                                        <p:cTn id="10" dur="500" fill="hold"/>
                                        <p:tgtEl>
                                          <p:spTgt spid="22"/>
                                        </p:tgtEl>
                                        <p:attrNameLst>
                                          <p:attrName>ppt_y</p:attrName>
                                        </p:attrNameLst>
                                      </p:cBhvr>
                                      <p:tavLst>
                                        <p:tav tm="0">
                                          <p:val>
                                            <p:strVal val="#ppt_y"/>
                                          </p:val>
                                        </p:tav>
                                        <p:tav tm="100000">
                                          <p:val>
                                            <p:strVal val="#ppt_y"/>
                                          </p:val>
                                        </p:tav>
                                      </p:tavLst>
                                    </p:anim>
                                  </p:childTnLst>
                                </p:cTn>
                              </p:par>
                            </p:childTnLst>
                          </p:cTn>
                        </p:par>
                        <p:par>
                          <p:cTn id="11" fill="hold">
                            <p:stCondLst>
                              <p:cond delay="2000"/>
                            </p:stCondLst>
                            <p:childTnLst>
                              <p:par>
                                <p:cTn id="12" presetID="50" presetClass="entr" presetSubtype="0" decel="100000" fill="hold" nodeType="after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3"/>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par>
                          <p:cTn id="17" fill="hold">
                            <p:stCondLst>
                              <p:cond delay="3000"/>
                            </p:stCondLst>
                            <p:childTnLst>
                              <p:par>
                                <p:cTn id="18" presetID="1"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709</TotalTime>
  <Words>1089</Words>
  <Application>Microsoft Office PowerPoint</Application>
  <PresentationFormat>Widescreen</PresentationFormat>
  <Paragraphs>116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Bahnschrift SemiBold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Juan Guillermo Gonzalez Gutierrez</dc:creator>
  <cp:lastModifiedBy>Juan Guillermo Gonzalez Gutierrez</cp:lastModifiedBy>
  <cp:revision>6</cp:revision>
  <dcterms:created xsi:type="dcterms:W3CDTF">2023-06-10T17:43:52Z</dcterms:created>
  <dcterms:modified xsi:type="dcterms:W3CDTF">2025-06-14T16:38:36Z</dcterms:modified>
</cp:coreProperties>
</file>